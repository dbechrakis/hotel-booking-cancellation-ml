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30"/>
    <p:restoredTop sz="94659"/>
  </p:normalViewPr>
  <p:slideViewPr>
    <p:cSldViewPr snapToGrid="0" snapToObjects="1">
      <p:cViewPr>
        <p:scale>
          <a:sx n="100" d="100"/>
          <a:sy n="100" d="100"/>
        </p:scale>
        <p:origin x="102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2560320"/>
            <a:ext cx="1143000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6217920"/>
            <a:ext cx="11823192" cy="640080"/>
          </a:xfrm>
          <a:prstGeom prst="rect">
            <a:avLst/>
          </a:prstGeom>
          <a:solidFill>
            <a:srgbClr val="05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71600"/>
            <a:ext cx="10972800" cy="457200"/>
          </a:xfrm>
          <a:prstGeom prst="rect">
            <a:avLst/>
          </a:prstGeom>
          <a:noFill/>
        </p:spPr>
        <p:txBody>
          <a:bodyPr wrap="square">
            <a:spAutoFit/>
          </a:bodyPr>
          <a:lstStyle/>
          <a:p>
            <a:pPr algn="l">
              <a:defRPr sz="1100" b="1" i="0">
                <a:solidFill>
                  <a:srgbClr val="D4AF37"/>
                </a:solidFill>
                <a:latin typeface="Trebuchet MS"/>
              </a:defRPr>
            </a:pPr>
            <a:r>
              <a:rPr dirty="0"/>
              <a:t>MACHINE LEARNING STRATEGY REPORT</a:t>
            </a:r>
          </a:p>
        </p:txBody>
      </p:sp>
      <p:sp>
        <p:nvSpPr>
          <p:cNvPr id="6" name="TextBox 5"/>
          <p:cNvSpPr txBox="1"/>
          <p:nvPr/>
        </p:nvSpPr>
        <p:spPr>
          <a:xfrm>
            <a:off x="640080" y="1783080"/>
            <a:ext cx="10972800" cy="1371600"/>
          </a:xfrm>
          <a:prstGeom prst="rect">
            <a:avLst/>
          </a:prstGeom>
          <a:noFill/>
        </p:spPr>
        <p:txBody>
          <a:bodyPr wrap="square">
            <a:spAutoFit/>
          </a:bodyPr>
          <a:lstStyle/>
          <a:p>
            <a:pPr algn="l">
              <a:defRPr sz="5200" b="1" i="0">
                <a:solidFill>
                  <a:srgbClr val="FFFFFF"/>
                </a:solidFill>
                <a:latin typeface="Trebuchet MS"/>
              </a:defRPr>
            </a:pPr>
            <a:r>
              <a:rPr dirty="0"/>
              <a:t>Hotel Booking Demand</a:t>
            </a:r>
          </a:p>
        </p:txBody>
      </p:sp>
      <p:sp>
        <p:nvSpPr>
          <p:cNvPr id="7" name="TextBox 6"/>
          <p:cNvSpPr txBox="1"/>
          <p:nvPr/>
        </p:nvSpPr>
        <p:spPr>
          <a:xfrm>
            <a:off x="640080" y="3200400"/>
            <a:ext cx="10972800" cy="548640"/>
          </a:xfrm>
          <a:prstGeom prst="rect">
            <a:avLst/>
          </a:prstGeom>
          <a:noFill/>
        </p:spPr>
        <p:txBody>
          <a:bodyPr wrap="square">
            <a:spAutoFit/>
          </a:bodyPr>
          <a:lstStyle/>
          <a:p>
            <a:pPr algn="l">
              <a:defRPr sz="2000" b="0" i="1">
                <a:solidFill>
                  <a:srgbClr val="ADD8E6"/>
                </a:solidFill>
                <a:latin typeface="Trebuchet MS"/>
              </a:defRPr>
            </a:pPr>
            <a:r>
              <a:t>Cancellation Risk &amp; Lead Time Prediction</a:t>
            </a:r>
          </a:p>
        </p:txBody>
      </p:sp>
      <p:sp>
        <p:nvSpPr>
          <p:cNvPr id="8" name="TextBox 7"/>
          <p:cNvSpPr txBox="1"/>
          <p:nvPr/>
        </p:nvSpPr>
        <p:spPr>
          <a:xfrm>
            <a:off x="640080" y="6263640"/>
            <a:ext cx="10972800" cy="457200"/>
          </a:xfrm>
          <a:prstGeom prst="rect">
            <a:avLst/>
          </a:prstGeom>
          <a:noFill/>
        </p:spPr>
        <p:txBody>
          <a:bodyPr wrap="square">
            <a:spAutoFit/>
          </a:bodyPr>
          <a:lstStyle/>
          <a:p>
            <a:pPr algn="l">
              <a:defRPr sz="1100" b="0" i="0">
                <a:solidFill>
                  <a:srgbClr val="5A789A"/>
                </a:solidFill>
                <a:latin typeface="Trebuchet MS"/>
              </a:defRPr>
            </a:pPr>
            <a:r>
              <a:rPr dirty="0"/>
              <a:t>Hotel Revenue Optimization Initiative  |  2015–2017 Dataset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430000" cy="1005840"/>
          </a:xfrm>
          <a:prstGeom prst="rect">
            <a:avLst/>
          </a:prstGeom>
          <a:noFill/>
        </p:spPr>
        <p:txBody>
          <a:bodyPr wrap="square">
            <a:spAutoFit/>
          </a:bodyPr>
          <a:lstStyle/>
          <a:p>
            <a:pPr algn="l">
              <a:defRPr sz="1700" b="1" i="0">
                <a:solidFill>
                  <a:srgbClr val="FFFFFF"/>
                </a:solidFill>
                <a:latin typeface="Trebuchet MS"/>
              </a:defRPr>
            </a:pPr>
            <a:r>
              <a:t>THE PROBLEM WITH STATIC REVENUE MANAGEMENT</a:t>
            </a:r>
          </a:p>
        </p:txBody>
      </p:sp>
      <p:sp>
        <p:nvSpPr>
          <p:cNvPr id="4" name="Rectangle 3"/>
          <p:cNvSpPr/>
          <p:nvPr/>
        </p:nvSpPr>
        <p:spPr>
          <a:xfrm>
            <a:off x="365760" y="1188720"/>
            <a:ext cx="3840480" cy="384048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554480"/>
            <a:ext cx="3840480" cy="1280160"/>
          </a:xfrm>
          <a:prstGeom prst="rect">
            <a:avLst/>
          </a:prstGeom>
          <a:noFill/>
        </p:spPr>
        <p:txBody>
          <a:bodyPr wrap="square">
            <a:spAutoFit/>
          </a:bodyPr>
          <a:lstStyle/>
          <a:p>
            <a:pPr algn="ctr">
              <a:defRPr sz="5400" b="1" i="0">
                <a:solidFill>
                  <a:srgbClr val="FFFFFF"/>
                </a:solidFill>
                <a:latin typeface="Trebuchet MS"/>
              </a:defRPr>
            </a:pPr>
            <a:r>
              <a:t>20–40%</a:t>
            </a:r>
          </a:p>
        </p:txBody>
      </p:sp>
      <p:sp>
        <p:nvSpPr>
          <p:cNvPr id="6" name="TextBox 5"/>
          <p:cNvSpPr txBox="1"/>
          <p:nvPr/>
        </p:nvSpPr>
        <p:spPr>
          <a:xfrm>
            <a:off x="365760" y="2834640"/>
            <a:ext cx="3840480" cy="1645920"/>
          </a:xfrm>
          <a:prstGeom prst="rect">
            <a:avLst/>
          </a:prstGeom>
          <a:noFill/>
        </p:spPr>
        <p:txBody>
          <a:bodyPr wrap="square">
            <a:spAutoFit/>
          </a:bodyPr>
          <a:lstStyle/>
          <a:p>
            <a:pPr algn="ctr">
              <a:defRPr sz="1400" b="0" i="0">
                <a:solidFill>
                  <a:srgbClr val="B4E6E4"/>
                </a:solidFill>
                <a:latin typeface="Trebuchet MS"/>
              </a:defRPr>
            </a:pPr>
            <a:r>
              <a:t>of potential revenue lost</a:t>
            </a:r>
            <a:br/>
            <a:r>
              <a:t>annually due to late</a:t>
            </a:r>
            <a:br/>
            <a:r>
              <a:t>cancellations &amp; no-shows</a:t>
            </a:r>
          </a:p>
        </p:txBody>
      </p:sp>
      <p:sp>
        <p:nvSpPr>
          <p:cNvPr id="7" name="Rectangle 6"/>
          <p:cNvSpPr/>
          <p:nvPr/>
        </p:nvSpPr>
        <p:spPr>
          <a:xfrm>
            <a:off x="4663440" y="1188720"/>
            <a:ext cx="7132320" cy="1188720"/>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663440" y="1188720"/>
            <a:ext cx="73152" cy="1188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46320" y="1280160"/>
            <a:ext cx="6766560" cy="365760"/>
          </a:xfrm>
          <a:prstGeom prst="rect">
            <a:avLst/>
          </a:prstGeom>
          <a:noFill/>
        </p:spPr>
        <p:txBody>
          <a:bodyPr wrap="square">
            <a:spAutoFit/>
          </a:bodyPr>
          <a:lstStyle/>
          <a:p>
            <a:pPr algn="l">
              <a:defRPr sz="1300" b="1" i="0">
                <a:solidFill>
                  <a:srgbClr val="0A192F"/>
                </a:solidFill>
                <a:latin typeface="Trebuchet MS"/>
              </a:defRPr>
            </a:pPr>
            <a:r>
              <a:t>Fixed Limits</a:t>
            </a:r>
          </a:p>
        </p:txBody>
      </p:sp>
      <p:sp>
        <p:nvSpPr>
          <p:cNvPr id="10" name="TextBox 9"/>
          <p:cNvSpPr txBox="1"/>
          <p:nvPr/>
        </p:nvSpPr>
        <p:spPr>
          <a:xfrm>
            <a:off x="4846320" y="1645920"/>
            <a:ext cx="6766560" cy="640080"/>
          </a:xfrm>
          <a:prstGeom prst="rect">
            <a:avLst/>
          </a:prstGeom>
          <a:noFill/>
        </p:spPr>
        <p:txBody>
          <a:bodyPr wrap="square">
            <a:spAutoFit/>
          </a:bodyPr>
          <a:lstStyle/>
          <a:p>
            <a:pPr algn="l">
              <a:defRPr sz="1100" b="0" i="0">
                <a:solidFill>
                  <a:srgbClr val="4A5568"/>
                </a:solidFill>
                <a:latin typeface="Trebuchet MS"/>
              </a:defRPr>
            </a:pPr>
            <a:r>
              <a:t>One static overbooking threshold applied year-round, ignoring real demand signals</a:t>
            </a:r>
          </a:p>
        </p:txBody>
      </p:sp>
      <p:sp>
        <p:nvSpPr>
          <p:cNvPr id="11" name="Rectangle 10"/>
          <p:cNvSpPr/>
          <p:nvPr/>
        </p:nvSpPr>
        <p:spPr>
          <a:xfrm>
            <a:off x="4663440" y="2514600"/>
            <a:ext cx="7132320" cy="1188720"/>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663440" y="2514600"/>
            <a:ext cx="73152" cy="1188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46320" y="2606040"/>
            <a:ext cx="6766560" cy="365760"/>
          </a:xfrm>
          <a:prstGeom prst="rect">
            <a:avLst/>
          </a:prstGeom>
          <a:noFill/>
        </p:spPr>
        <p:txBody>
          <a:bodyPr wrap="square">
            <a:spAutoFit/>
          </a:bodyPr>
          <a:lstStyle/>
          <a:p>
            <a:pPr algn="l">
              <a:defRPr sz="1300" b="1" i="0">
                <a:solidFill>
                  <a:srgbClr val="0A192F"/>
                </a:solidFill>
                <a:latin typeface="Trebuchet MS"/>
              </a:defRPr>
            </a:pPr>
            <a:r>
              <a:t>Rear-View Mirror</a:t>
            </a:r>
          </a:p>
        </p:txBody>
      </p:sp>
      <p:sp>
        <p:nvSpPr>
          <p:cNvPr id="14" name="TextBox 13"/>
          <p:cNvSpPr txBox="1"/>
          <p:nvPr/>
        </p:nvSpPr>
        <p:spPr>
          <a:xfrm>
            <a:off x="4846320" y="2971800"/>
            <a:ext cx="6766560" cy="640080"/>
          </a:xfrm>
          <a:prstGeom prst="rect">
            <a:avLst/>
          </a:prstGeom>
          <a:noFill/>
        </p:spPr>
        <p:txBody>
          <a:bodyPr wrap="square">
            <a:spAutoFit/>
          </a:bodyPr>
          <a:lstStyle/>
          <a:p>
            <a:pPr algn="l">
              <a:defRPr sz="1100" b="0" i="0">
                <a:solidFill>
                  <a:srgbClr val="4A5568"/>
                </a:solidFill>
                <a:latin typeface="Trebuchet MS"/>
              </a:defRPr>
            </a:pPr>
            <a:r>
              <a:t>Decisions based on last year's averages — not live booking intelligence</a:t>
            </a:r>
          </a:p>
        </p:txBody>
      </p:sp>
      <p:sp>
        <p:nvSpPr>
          <p:cNvPr id="15" name="Rectangle 14"/>
          <p:cNvSpPr/>
          <p:nvPr/>
        </p:nvSpPr>
        <p:spPr>
          <a:xfrm>
            <a:off x="4663440" y="3840480"/>
            <a:ext cx="7132320" cy="1188720"/>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663440" y="3840480"/>
            <a:ext cx="73152" cy="1188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46320" y="3931920"/>
            <a:ext cx="6766560" cy="365760"/>
          </a:xfrm>
          <a:prstGeom prst="rect">
            <a:avLst/>
          </a:prstGeom>
          <a:noFill/>
        </p:spPr>
        <p:txBody>
          <a:bodyPr wrap="square">
            <a:spAutoFit/>
          </a:bodyPr>
          <a:lstStyle/>
          <a:p>
            <a:pPr algn="l">
              <a:defRPr sz="1300" b="1" i="0">
                <a:solidFill>
                  <a:srgbClr val="0A192F"/>
                </a:solidFill>
                <a:latin typeface="Trebuchet MS"/>
              </a:defRPr>
            </a:pPr>
            <a:r>
              <a:t>Hidden Risk</a:t>
            </a:r>
          </a:p>
        </p:txBody>
      </p:sp>
      <p:sp>
        <p:nvSpPr>
          <p:cNvPr id="18" name="TextBox 17"/>
          <p:cNvSpPr txBox="1"/>
          <p:nvPr/>
        </p:nvSpPr>
        <p:spPr>
          <a:xfrm>
            <a:off x="4846320" y="4297680"/>
            <a:ext cx="6766560" cy="640080"/>
          </a:xfrm>
          <a:prstGeom prst="rect">
            <a:avLst/>
          </a:prstGeom>
          <a:noFill/>
        </p:spPr>
        <p:txBody>
          <a:bodyPr wrap="square">
            <a:spAutoFit/>
          </a:bodyPr>
          <a:lstStyle/>
          <a:p>
            <a:pPr algn="l">
              <a:defRPr sz="1100" b="0" i="0">
                <a:solidFill>
                  <a:srgbClr val="4A5568"/>
                </a:solidFill>
                <a:latin typeface="Trebuchet MS"/>
              </a:defRPr>
            </a:pPr>
            <a:r>
              <a:t>Each booking carries unique cancellation signals that static rules miss entirely</a:t>
            </a:r>
          </a:p>
        </p:txBody>
      </p:sp>
      <p:sp>
        <p:nvSpPr>
          <p:cNvPr id="19" name="Rectangle 18"/>
          <p:cNvSpPr/>
          <p:nvPr/>
        </p:nvSpPr>
        <p:spPr>
          <a:xfrm>
            <a:off x="0" y="6217920"/>
            <a:ext cx="12188952" cy="6400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6217920"/>
            <a:ext cx="11430000" cy="640080"/>
          </a:xfrm>
          <a:prstGeom prst="rect">
            <a:avLst/>
          </a:prstGeom>
          <a:noFill/>
        </p:spPr>
        <p:txBody>
          <a:bodyPr wrap="square">
            <a:spAutoFit/>
          </a:bodyPr>
          <a:lstStyle/>
          <a:p>
            <a:pPr algn="ctr">
              <a:defRPr sz="1200" b="0" i="1">
                <a:solidFill>
                  <a:srgbClr val="D4AF37"/>
                </a:solidFill>
                <a:latin typeface="Trebuchet MS"/>
              </a:defRPr>
            </a:pPr>
            <a:r>
              <a:t>Solution: A dual-model AI system — Cancellation Risk Classifier  +  Lead Time Regressor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430000" cy="1005840"/>
          </a:xfrm>
          <a:prstGeom prst="rect">
            <a:avLst/>
          </a:prstGeom>
          <a:noFill/>
        </p:spPr>
        <p:txBody>
          <a:bodyPr wrap="square">
            <a:spAutoFit/>
          </a:bodyPr>
          <a:lstStyle/>
          <a:p>
            <a:pPr algn="l">
              <a:defRPr sz="1700" b="1" i="0">
                <a:solidFill>
                  <a:srgbClr val="FFFFFF"/>
                </a:solidFill>
                <a:latin typeface="Trebuchet MS"/>
              </a:defRPr>
            </a:pPr>
            <a:r>
              <a:rPr dirty="0"/>
              <a:t>OUR SOLUTION: A DUAL-MODEL AI SYSTEM</a:t>
            </a:r>
          </a:p>
        </p:txBody>
      </p:sp>
      <p:sp>
        <p:nvSpPr>
          <p:cNvPr id="4" name="TextBox 3"/>
          <p:cNvSpPr txBox="1"/>
          <p:nvPr/>
        </p:nvSpPr>
        <p:spPr>
          <a:xfrm>
            <a:off x="457200" y="1051560"/>
            <a:ext cx="11430000" cy="457200"/>
          </a:xfrm>
          <a:prstGeom prst="rect">
            <a:avLst/>
          </a:prstGeom>
          <a:noFill/>
        </p:spPr>
        <p:txBody>
          <a:bodyPr wrap="square">
            <a:spAutoFit/>
          </a:bodyPr>
          <a:lstStyle/>
          <a:p>
            <a:pPr algn="l">
              <a:defRPr sz="1300" b="0" i="1">
                <a:solidFill>
                  <a:srgbClr val="4A5568"/>
                </a:solidFill>
                <a:latin typeface="Trebuchet MS"/>
              </a:defRPr>
            </a:pPr>
            <a:r>
              <a:t>Shifting the hotel from reactive firefighting to proactive revenue control</a:t>
            </a:r>
          </a:p>
        </p:txBody>
      </p:sp>
      <p:sp>
        <p:nvSpPr>
          <p:cNvPr id="5" name="Rectangle 4"/>
          <p:cNvSpPr/>
          <p:nvPr/>
        </p:nvSpPr>
        <p:spPr>
          <a:xfrm>
            <a:off x="365760" y="1554480"/>
            <a:ext cx="5303520" cy="41148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600200"/>
            <a:ext cx="5303520" cy="365760"/>
          </a:xfrm>
          <a:prstGeom prst="rect">
            <a:avLst/>
          </a:prstGeom>
          <a:noFill/>
        </p:spPr>
        <p:txBody>
          <a:bodyPr wrap="square">
            <a:spAutoFit/>
          </a:bodyPr>
          <a:lstStyle/>
          <a:p>
            <a:pPr algn="ctr">
              <a:defRPr sz="1000" b="1" i="0">
                <a:solidFill>
                  <a:srgbClr val="D4AF37"/>
                </a:solidFill>
                <a:latin typeface="Trebuchet MS"/>
              </a:defRPr>
            </a:pPr>
            <a:r>
              <a:t>MODEL 1</a:t>
            </a:r>
          </a:p>
        </p:txBody>
      </p:sp>
      <p:sp>
        <p:nvSpPr>
          <p:cNvPr id="7" name="TextBox 6"/>
          <p:cNvSpPr txBox="1"/>
          <p:nvPr/>
        </p:nvSpPr>
        <p:spPr>
          <a:xfrm>
            <a:off x="365760" y="1920240"/>
            <a:ext cx="5303520" cy="1005840"/>
          </a:xfrm>
          <a:prstGeom prst="rect">
            <a:avLst/>
          </a:prstGeom>
          <a:noFill/>
        </p:spPr>
        <p:txBody>
          <a:bodyPr wrap="square">
            <a:spAutoFit/>
          </a:bodyPr>
          <a:lstStyle/>
          <a:p>
            <a:pPr algn="ctr">
              <a:defRPr sz="2600" b="1" i="0">
                <a:solidFill>
                  <a:srgbClr val="FFFFFF"/>
                </a:solidFill>
                <a:latin typeface="Trebuchet MS"/>
              </a:defRPr>
            </a:pPr>
            <a:r>
              <a:t>Cancellation Risk</a:t>
            </a:r>
            <a:br/>
            <a:r>
              <a:t>Classifier</a:t>
            </a:r>
          </a:p>
        </p:txBody>
      </p:sp>
      <p:sp>
        <p:nvSpPr>
          <p:cNvPr id="8" name="Rectangle 7"/>
          <p:cNvSpPr/>
          <p:nvPr/>
        </p:nvSpPr>
        <p:spPr>
          <a:xfrm>
            <a:off x="548640" y="2971800"/>
            <a:ext cx="493776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3063240"/>
            <a:ext cx="4937760" cy="411480"/>
          </a:xfrm>
          <a:prstGeom prst="rect">
            <a:avLst/>
          </a:prstGeom>
          <a:noFill/>
        </p:spPr>
        <p:txBody>
          <a:bodyPr wrap="square">
            <a:spAutoFit/>
          </a:bodyPr>
          <a:lstStyle/>
          <a:p>
            <a:pPr algn="l">
              <a:defRPr sz="1200" b="0" i="0">
                <a:solidFill>
                  <a:srgbClr val="FFFFFF"/>
                </a:solidFill>
                <a:latin typeface="Trebuchet MS"/>
              </a:defRPr>
            </a:pPr>
            <a:r>
              <a:t>• Scores every new reservation in real time</a:t>
            </a:r>
          </a:p>
        </p:txBody>
      </p:sp>
      <p:sp>
        <p:nvSpPr>
          <p:cNvPr id="10" name="TextBox 9"/>
          <p:cNvSpPr txBox="1"/>
          <p:nvPr/>
        </p:nvSpPr>
        <p:spPr>
          <a:xfrm>
            <a:off x="548640" y="3493008"/>
            <a:ext cx="4937760" cy="411480"/>
          </a:xfrm>
          <a:prstGeom prst="rect">
            <a:avLst/>
          </a:prstGeom>
          <a:noFill/>
        </p:spPr>
        <p:txBody>
          <a:bodyPr wrap="square">
            <a:spAutoFit/>
          </a:bodyPr>
          <a:lstStyle/>
          <a:p>
            <a:pPr algn="l">
              <a:defRPr sz="1200" b="0" i="0">
                <a:solidFill>
                  <a:srgbClr val="FFFFFF"/>
                </a:solidFill>
                <a:latin typeface="Trebuchet MS"/>
              </a:defRPr>
            </a:pPr>
            <a:r>
              <a:t>• Outputs cancellation probability 0–100%</a:t>
            </a:r>
          </a:p>
        </p:txBody>
      </p:sp>
      <p:sp>
        <p:nvSpPr>
          <p:cNvPr id="11" name="TextBox 10"/>
          <p:cNvSpPr txBox="1"/>
          <p:nvPr/>
        </p:nvSpPr>
        <p:spPr>
          <a:xfrm>
            <a:off x="548640" y="3922776"/>
            <a:ext cx="4937760" cy="411480"/>
          </a:xfrm>
          <a:prstGeom prst="rect">
            <a:avLst/>
          </a:prstGeom>
          <a:noFill/>
        </p:spPr>
        <p:txBody>
          <a:bodyPr wrap="square">
            <a:spAutoFit/>
          </a:bodyPr>
          <a:lstStyle/>
          <a:p>
            <a:pPr algn="l">
              <a:defRPr sz="1200" b="0" i="0">
                <a:solidFill>
                  <a:srgbClr val="FFFFFF"/>
                </a:solidFill>
                <a:latin typeface="Trebuchet MS"/>
              </a:defRPr>
            </a:pPr>
            <a:r>
              <a:t>• High-risk bookings flagged on day one</a:t>
            </a:r>
          </a:p>
        </p:txBody>
      </p:sp>
      <p:sp>
        <p:nvSpPr>
          <p:cNvPr id="12" name="TextBox 11"/>
          <p:cNvSpPr txBox="1"/>
          <p:nvPr/>
        </p:nvSpPr>
        <p:spPr>
          <a:xfrm>
            <a:off x="548640" y="4352544"/>
            <a:ext cx="4937760" cy="411480"/>
          </a:xfrm>
          <a:prstGeom prst="rect">
            <a:avLst/>
          </a:prstGeom>
          <a:noFill/>
        </p:spPr>
        <p:txBody>
          <a:bodyPr wrap="square">
            <a:spAutoFit/>
          </a:bodyPr>
          <a:lstStyle/>
          <a:p>
            <a:pPr algn="l">
              <a:defRPr sz="1200" b="0" i="0">
                <a:solidFill>
                  <a:srgbClr val="FFFFFF"/>
                </a:solidFill>
                <a:latin typeface="Trebuchet MS"/>
              </a:defRPr>
            </a:pPr>
            <a:r>
              <a:t>• Enables early retention outreach</a:t>
            </a:r>
          </a:p>
        </p:txBody>
      </p:sp>
      <p:sp>
        <p:nvSpPr>
          <p:cNvPr id="13" name="TextBox 12"/>
          <p:cNvSpPr txBox="1"/>
          <p:nvPr/>
        </p:nvSpPr>
        <p:spPr>
          <a:xfrm>
            <a:off x="548640" y="4782312"/>
            <a:ext cx="4937760" cy="411480"/>
          </a:xfrm>
          <a:prstGeom prst="rect">
            <a:avLst/>
          </a:prstGeom>
          <a:noFill/>
        </p:spPr>
        <p:txBody>
          <a:bodyPr wrap="square">
            <a:spAutoFit/>
          </a:bodyPr>
          <a:lstStyle/>
          <a:p>
            <a:pPr algn="l">
              <a:defRPr sz="1200" b="0" i="0">
                <a:solidFill>
                  <a:srgbClr val="FFFFFF"/>
                </a:solidFill>
                <a:latin typeface="Trebuchet MS"/>
              </a:defRPr>
            </a:pPr>
            <a:r>
              <a:t>• Drives dynamic overbooking calculations</a:t>
            </a:r>
          </a:p>
        </p:txBody>
      </p:sp>
      <p:sp>
        <p:nvSpPr>
          <p:cNvPr id="14" name="Rectangle 13"/>
          <p:cNvSpPr/>
          <p:nvPr/>
        </p:nvSpPr>
        <p:spPr>
          <a:xfrm>
            <a:off x="6309360" y="1554480"/>
            <a:ext cx="5303520" cy="41148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0" y="1600200"/>
            <a:ext cx="5303520" cy="365760"/>
          </a:xfrm>
          <a:prstGeom prst="rect">
            <a:avLst/>
          </a:prstGeom>
          <a:noFill/>
        </p:spPr>
        <p:txBody>
          <a:bodyPr wrap="square">
            <a:spAutoFit/>
          </a:bodyPr>
          <a:lstStyle/>
          <a:p>
            <a:pPr algn="ctr">
              <a:defRPr sz="1000" b="1" i="0">
                <a:solidFill>
                  <a:srgbClr val="D4AF37"/>
                </a:solidFill>
                <a:latin typeface="Trebuchet MS"/>
              </a:defRPr>
            </a:pPr>
            <a:r>
              <a:t>MODEL 2</a:t>
            </a:r>
          </a:p>
        </p:txBody>
      </p:sp>
      <p:sp>
        <p:nvSpPr>
          <p:cNvPr id="16" name="TextBox 15"/>
          <p:cNvSpPr txBox="1"/>
          <p:nvPr/>
        </p:nvSpPr>
        <p:spPr>
          <a:xfrm>
            <a:off x="6309360" y="1920240"/>
            <a:ext cx="5303520" cy="1005840"/>
          </a:xfrm>
          <a:prstGeom prst="rect">
            <a:avLst/>
          </a:prstGeom>
          <a:noFill/>
        </p:spPr>
        <p:txBody>
          <a:bodyPr wrap="square">
            <a:spAutoFit/>
          </a:bodyPr>
          <a:lstStyle/>
          <a:p>
            <a:pPr algn="ctr">
              <a:defRPr sz="2600" b="1" i="0">
                <a:solidFill>
                  <a:srgbClr val="FFFFFF"/>
                </a:solidFill>
                <a:latin typeface="Trebuchet MS"/>
              </a:defRPr>
            </a:pPr>
            <a:r>
              <a:t>Lead Time</a:t>
            </a:r>
            <a:br/>
            <a:r>
              <a:t>Regressor</a:t>
            </a:r>
          </a:p>
        </p:txBody>
      </p:sp>
      <p:sp>
        <p:nvSpPr>
          <p:cNvPr id="17" name="Rectangle 16"/>
          <p:cNvSpPr/>
          <p:nvPr/>
        </p:nvSpPr>
        <p:spPr>
          <a:xfrm>
            <a:off x="6492240" y="2971800"/>
            <a:ext cx="493776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3063240"/>
            <a:ext cx="4937760" cy="411480"/>
          </a:xfrm>
          <a:prstGeom prst="rect">
            <a:avLst/>
          </a:prstGeom>
          <a:noFill/>
        </p:spPr>
        <p:txBody>
          <a:bodyPr wrap="square">
            <a:spAutoFit/>
          </a:bodyPr>
          <a:lstStyle/>
          <a:p>
            <a:pPr algn="l">
              <a:defRPr sz="1200" b="0" i="0">
                <a:solidFill>
                  <a:srgbClr val="FFFFFF"/>
                </a:solidFill>
                <a:latin typeface="Trebuchet MS"/>
              </a:defRPr>
            </a:pPr>
            <a:r>
              <a:t>• Forecasts days-in-advance for each booking</a:t>
            </a:r>
          </a:p>
        </p:txBody>
      </p:sp>
      <p:sp>
        <p:nvSpPr>
          <p:cNvPr id="19" name="TextBox 18"/>
          <p:cNvSpPr txBox="1"/>
          <p:nvPr/>
        </p:nvSpPr>
        <p:spPr>
          <a:xfrm>
            <a:off x="6492240" y="3493008"/>
            <a:ext cx="4937760" cy="411480"/>
          </a:xfrm>
          <a:prstGeom prst="rect">
            <a:avLst/>
          </a:prstGeom>
          <a:noFill/>
        </p:spPr>
        <p:txBody>
          <a:bodyPr wrap="square">
            <a:spAutoFit/>
          </a:bodyPr>
          <a:lstStyle/>
          <a:p>
            <a:pPr algn="l">
              <a:defRPr sz="1200" b="0" i="0">
                <a:solidFill>
                  <a:srgbClr val="FFFFFF"/>
                </a:solidFill>
                <a:latin typeface="Trebuchet MS"/>
              </a:defRPr>
            </a:pPr>
            <a:r>
              <a:t>• Powers dynamic early-bird pricing windows</a:t>
            </a:r>
          </a:p>
        </p:txBody>
      </p:sp>
      <p:sp>
        <p:nvSpPr>
          <p:cNvPr id="20" name="TextBox 19"/>
          <p:cNvSpPr txBox="1"/>
          <p:nvPr/>
        </p:nvSpPr>
        <p:spPr>
          <a:xfrm>
            <a:off x="6492240" y="3922776"/>
            <a:ext cx="4937760" cy="411480"/>
          </a:xfrm>
          <a:prstGeom prst="rect">
            <a:avLst/>
          </a:prstGeom>
          <a:noFill/>
        </p:spPr>
        <p:txBody>
          <a:bodyPr wrap="square">
            <a:spAutoFit/>
          </a:bodyPr>
          <a:lstStyle/>
          <a:p>
            <a:pPr algn="l">
              <a:defRPr sz="1200" b="0" i="0">
                <a:solidFill>
                  <a:srgbClr val="FFFFFF"/>
                </a:solidFill>
                <a:latin typeface="Trebuchet MS"/>
              </a:defRPr>
            </a:pPr>
            <a:r>
              <a:t>• Improves staffing &amp; inventory planning</a:t>
            </a:r>
          </a:p>
        </p:txBody>
      </p:sp>
      <p:sp>
        <p:nvSpPr>
          <p:cNvPr id="21" name="TextBox 20"/>
          <p:cNvSpPr txBox="1"/>
          <p:nvPr/>
        </p:nvSpPr>
        <p:spPr>
          <a:xfrm>
            <a:off x="6492240" y="4352544"/>
            <a:ext cx="4937760" cy="411480"/>
          </a:xfrm>
          <a:prstGeom prst="rect">
            <a:avLst/>
          </a:prstGeom>
          <a:noFill/>
        </p:spPr>
        <p:txBody>
          <a:bodyPr wrap="square">
            <a:spAutoFit/>
          </a:bodyPr>
          <a:lstStyle/>
          <a:p>
            <a:pPr algn="l">
              <a:defRPr sz="1200" b="0" i="0">
                <a:solidFill>
                  <a:srgbClr val="FFFFFF"/>
                </a:solidFill>
                <a:latin typeface="Trebuchet MS"/>
              </a:defRPr>
            </a:pPr>
            <a:r>
              <a:rPr dirty="0"/>
              <a:t>• Personalizes channel discount strategy</a:t>
            </a:r>
          </a:p>
        </p:txBody>
      </p:sp>
      <p:sp>
        <p:nvSpPr>
          <p:cNvPr id="22" name="TextBox 21"/>
          <p:cNvSpPr txBox="1"/>
          <p:nvPr/>
        </p:nvSpPr>
        <p:spPr>
          <a:xfrm>
            <a:off x="6492240" y="4782312"/>
            <a:ext cx="4937760" cy="411480"/>
          </a:xfrm>
          <a:prstGeom prst="rect">
            <a:avLst/>
          </a:prstGeom>
          <a:noFill/>
        </p:spPr>
        <p:txBody>
          <a:bodyPr wrap="square">
            <a:spAutoFit/>
          </a:bodyPr>
          <a:lstStyle/>
          <a:p>
            <a:pPr algn="l">
              <a:defRPr sz="1200" b="0" i="0">
                <a:solidFill>
                  <a:srgbClr val="FFFFFF"/>
                </a:solidFill>
                <a:latin typeface="Trebuchet MS"/>
              </a:defRPr>
            </a:pPr>
            <a:r>
              <a:rPr dirty="0"/>
              <a:t>• Replaces calendar-based guesswork</a:t>
            </a:r>
          </a:p>
        </p:txBody>
      </p:sp>
      <p:sp>
        <p:nvSpPr>
          <p:cNvPr id="23" name="TextBox 22"/>
          <p:cNvSpPr txBox="1"/>
          <p:nvPr/>
        </p:nvSpPr>
        <p:spPr>
          <a:xfrm>
            <a:off x="5669280" y="3108960"/>
            <a:ext cx="731520" cy="731520"/>
          </a:xfrm>
          <a:prstGeom prst="rect">
            <a:avLst/>
          </a:prstGeom>
          <a:noFill/>
        </p:spPr>
        <p:txBody>
          <a:bodyPr wrap="square">
            <a:spAutoFit/>
          </a:bodyPr>
          <a:lstStyle/>
          <a:p>
            <a:pPr algn="ctr">
              <a:defRPr sz="3600" b="1" i="0">
                <a:solidFill>
                  <a:srgbClr val="D4AF37"/>
                </a:solidFill>
                <a:latin typeface="Trebuchet MS"/>
              </a:defRPr>
            </a:pPr>
            <a: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430000" cy="1005840"/>
          </a:xfrm>
          <a:prstGeom prst="rect">
            <a:avLst/>
          </a:prstGeom>
          <a:noFill/>
        </p:spPr>
        <p:txBody>
          <a:bodyPr wrap="square">
            <a:spAutoFit/>
          </a:bodyPr>
          <a:lstStyle/>
          <a:p>
            <a:pPr algn="l">
              <a:defRPr sz="1700" b="1" i="0">
                <a:solidFill>
                  <a:srgbClr val="FFFFFF"/>
                </a:solidFill>
                <a:latin typeface="Trebuchet MS"/>
              </a:defRPr>
            </a:pPr>
            <a:r>
              <a:t>DATA: SOURCE, CLEANING &amp; SCOPE</a:t>
            </a:r>
          </a:p>
        </p:txBody>
      </p:sp>
      <p:sp>
        <p:nvSpPr>
          <p:cNvPr id="4" name="Rectangle 3"/>
          <p:cNvSpPr/>
          <p:nvPr/>
        </p:nvSpPr>
        <p:spPr>
          <a:xfrm>
            <a:off x="365760" y="1097280"/>
            <a:ext cx="2560320" cy="13716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0"/>
            <a:ext cx="2560320" cy="731520"/>
          </a:xfrm>
          <a:prstGeom prst="rect">
            <a:avLst/>
          </a:prstGeom>
          <a:noFill/>
        </p:spPr>
        <p:txBody>
          <a:bodyPr wrap="square">
            <a:spAutoFit/>
          </a:bodyPr>
          <a:lstStyle/>
          <a:p>
            <a:pPr algn="ctr">
              <a:defRPr sz="3000" b="1" i="0">
                <a:solidFill>
                  <a:srgbClr val="D4AF37"/>
                </a:solidFill>
                <a:latin typeface="Trebuchet MS"/>
              </a:defRPr>
            </a:pPr>
            <a:r>
              <a:t>119,390</a:t>
            </a:r>
          </a:p>
        </p:txBody>
      </p:sp>
      <p:sp>
        <p:nvSpPr>
          <p:cNvPr id="6" name="TextBox 5"/>
          <p:cNvSpPr txBox="1"/>
          <p:nvPr/>
        </p:nvSpPr>
        <p:spPr>
          <a:xfrm>
            <a:off x="365760" y="1828800"/>
            <a:ext cx="2560320" cy="457200"/>
          </a:xfrm>
          <a:prstGeom prst="rect">
            <a:avLst/>
          </a:prstGeom>
          <a:noFill/>
        </p:spPr>
        <p:txBody>
          <a:bodyPr wrap="square">
            <a:spAutoFit/>
          </a:bodyPr>
          <a:lstStyle/>
          <a:p>
            <a:pPr algn="ctr">
              <a:defRPr sz="1100" b="0" i="0">
                <a:solidFill>
                  <a:srgbClr val="ADD8E6"/>
                </a:solidFill>
                <a:latin typeface="Trebuchet MS"/>
              </a:defRPr>
            </a:pPr>
            <a:r>
              <a:t>Raw booking rows</a:t>
            </a:r>
          </a:p>
        </p:txBody>
      </p:sp>
      <p:sp>
        <p:nvSpPr>
          <p:cNvPr id="7" name="Rectangle 6"/>
          <p:cNvSpPr/>
          <p:nvPr/>
        </p:nvSpPr>
        <p:spPr>
          <a:xfrm>
            <a:off x="3246120" y="1097280"/>
            <a:ext cx="2560320" cy="13716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46120" y="1188720"/>
            <a:ext cx="2560320" cy="731520"/>
          </a:xfrm>
          <a:prstGeom prst="rect">
            <a:avLst/>
          </a:prstGeom>
          <a:noFill/>
        </p:spPr>
        <p:txBody>
          <a:bodyPr wrap="square">
            <a:spAutoFit/>
          </a:bodyPr>
          <a:lstStyle/>
          <a:p>
            <a:pPr algn="ctr">
              <a:defRPr sz="3000" b="1" i="0">
                <a:solidFill>
                  <a:srgbClr val="D4AF37"/>
                </a:solidFill>
                <a:latin typeface="Trebuchet MS"/>
              </a:defRPr>
            </a:pPr>
            <a:r>
              <a:t>31,994</a:t>
            </a:r>
          </a:p>
        </p:txBody>
      </p:sp>
      <p:sp>
        <p:nvSpPr>
          <p:cNvPr id="9" name="TextBox 8"/>
          <p:cNvSpPr txBox="1"/>
          <p:nvPr/>
        </p:nvSpPr>
        <p:spPr>
          <a:xfrm>
            <a:off x="3246120" y="1828800"/>
            <a:ext cx="2560320" cy="457200"/>
          </a:xfrm>
          <a:prstGeom prst="rect">
            <a:avLst/>
          </a:prstGeom>
          <a:noFill/>
        </p:spPr>
        <p:txBody>
          <a:bodyPr wrap="square">
            <a:spAutoFit/>
          </a:bodyPr>
          <a:lstStyle/>
          <a:p>
            <a:pPr algn="ctr">
              <a:defRPr sz="1100" b="0" i="0">
                <a:solidFill>
                  <a:srgbClr val="ADD8E6"/>
                </a:solidFill>
                <a:latin typeface="Trebuchet MS"/>
              </a:defRPr>
            </a:pPr>
            <a:r>
              <a:t>Duplicates removed</a:t>
            </a:r>
          </a:p>
        </p:txBody>
      </p:sp>
      <p:sp>
        <p:nvSpPr>
          <p:cNvPr id="10" name="Rectangle 9"/>
          <p:cNvSpPr/>
          <p:nvPr/>
        </p:nvSpPr>
        <p:spPr>
          <a:xfrm>
            <a:off x="6126480" y="1097280"/>
            <a:ext cx="2560320" cy="13716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26480" y="1188720"/>
            <a:ext cx="2560320" cy="731520"/>
          </a:xfrm>
          <a:prstGeom prst="rect">
            <a:avLst/>
          </a:prstGeom>
          <a:noFill/>
        </p:spPr>
        <p:txBody>
          <a:bodyPr wrap="square">
            <a:spAutoFit/>
          </a:bodyPr>
          <a:lstStyle/>
          <a:p>
            <a:pPr algn="ctr">
              <a:defRPr sz="3000" b="1" i="0">
                <a:solidFill>
                  <a:srgbClr val="D4AF37"/>
                </a:solidFill>
                <a:latin typeface="Trebuchet MS"/>
              </a:defRPr>
            </a:pPr>
            <a:r>
              <a:t>87,396</a:t>
            </a:r>
          </a:p>
        </p:txBody>
      </p:sp>
      <p:sp>
        <p:nvSpPr>
          <p:cNvPr id="12" name="TextBox 11"/>
          <p:cNvSpPr txBox="1"/>
          <p:nvPr/>
        </p:nvSpPr>
        <p:spPr>
          <a:xfrm>
            <a:off x="6126480" y="1828800"/>
            <a:ext cx="2560320" cy="457200"/>
          </a:xfrm>
          <a:prstGeom prst="rect">
            <a:avLst/>
          </a:prstGeom>
          <a:noFill/>
        </p:spPr>
        <p:txBody>
          <a:bodyPr wrap="square">
            <a:spAutoFit/>
          </a:bodyPr>
          <a:lstStyle/>
          <a:p>
            <a:pPr algn="ctr">
              <a:defRPr sz="1100" b="0" i="0">
                <a:solidFill>
                  <a:srgbClr val="ADD8E6"/>
                </a:solidFill>
                <a:latin typeface="Trebuchet MS"/>
              </a:defRPr>
            </a:pPr>
            <a:r>
              <a:t>Clean records</a:t>
            </a:r>
          </a:p>
        </p:txBody>
      </p:sp>
      <p:sp>
        <p:nvSpPr>
          <p:cNvPr id="13" name="Rectangle 12"/>
          <p:cNvSpPr/>
          <p:nvPr/>
        </p:nvSpPr>
        <p:spPr>
          <a:xfrm>
            <a:off x="9006840" y="1097280"/>
            <a:ext cx="2560320" cy="13716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06840" y="1188720"/>
            <a:ext cx="2560320" cy="731520"/>
          </a:xfrm>
          <a:prstGeom prst="rect">
            <a:avLst/>
          </a:prstGeom>
          <a:noFill/>
        </p:spPr>
        <p:txBody>
          <a:bodyPr wrap="square">
            <a:spAutoFit/>
          </a:bodyPr>
          <a:lstStyle/>
          <a:p>
            <a:pPr algn="ctr">
              <a:defRPr sz="3000" b="1" i="0">
                <a:solidFill>
                  <a:srgbClr val="D4AF37"/>
                </a:solidFill>
                <a:latin typeface="Trebuchet MS"/>
              </a:defRPr>
            </a:pPr>
            <a:r>
              <a:t>32</a:t>
            </a:r>
          </a:p>
        </p:txBody>
      </p:sp>
      <p:sp>
        <p:nvSpPr>
          <p:cNvPr id="15" name="TextBox 14"/>
          <p:cNvSpPr txBox="1"/>
          <p:nvPr/>
        </p:nvSpPr>
        <p:spPr>
          <a:xfrm>
            <a:off x="9006840" y="1828800"/>
            <a:ext cx="2560320" cy="457200"/>
          </a:xfrm>
          <a:prstGeom prst="rect">
            <a:avLst/>
          </a:prstGeom>
          <a:noFill/>
        </p:spPr>
        <p:txBody>
          <a:bodyPr wrap="square">
            <a:spAutoFit/>
          </a:bodyPr>
          <a:lstStyle/>
          <a:p>
            <a:pPr algn="ctr">
              <a:defRPr sz="1100" b="0" i="0">
                <a:solidFill>
                  <a:srgbClr val="ADD8E6"/>
                </a:solidFill>
                <a:latin typeface="Trebuchet MS"/>
              </a:defRPr>
            </a:pPr>
            <a:r>
              <a:t>Original columns</a:t>
            </a:r>
          </a:p>
        </p:txBody>
      </p:sp>
      <p:sp>
        <p:nvSpPr>
          <p:cNvPr id="16" name="TextBox 15"/>
          <p:cNvSpPr txBox="1"/>
          <p:nvPr/>
        </p:nvSpPr>
        <p:spPr>
          <a:xfrm>
            <a:off x="457200" y="2651760"/>
            <a:ext cx="11430000" cy="365760"/>
          </a:xfrm>
          <a:prstGeom prst="rect">
            <a:avLst/>
          </a:prstGeom>
          <a:noFill/>
        </p:spPr>
        <p:txBody>
          <a:bodyPr wrap="square">
            <a:spAutoFit/>
          </a:bodyPr>
          <a:lstStyle/>
          <a:p>
            <a:pPr algn="l">
              <a:defRPr sz="1400" b="1" i="0">
                <a:solidFill>
                  <a:srgbClr val="0A192F"/>
                </a:solidFill>
                <a:latin typeface="Trebuchet MS"/>
              </a:defRPr>
            </a:pPr>
            <a:r>
              <a:t>Key Cleaning Decisions</a:t>
            </a:r>
          </a:p>
        </p:txBody>
      </p:sp>
      <p:sp>
        <p:nvSpPr>
          <p:cNvPr id="17" name="Rectangle 16"/>
          <p:cNvSpPr/>
          <p:nvPr/>
        </p:nvSpPr>
        <p:spPr>
          <a:xfrm>
            <a:off x="365760" y="3063240"/>
            <a:ext cx="4114800" cy="475488"/>
          </a:xfrm>
          <a:prstGeom prst="rect">
            <a:avLst/>
          </a:prstGeom>
          <a:solidFill>
            <a:srgbClr val="008080"/>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480560" y="3063240"/>
            <a:ext cx="7315200" cy="475488"/>
          </a:xfrm>
          <a:prstGeom prst="rect">
            <a:avLst/>
          </a:prstGeom>
          <a:solidFill>
            <a:srgbClr val="008080"/>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127248"/>
            <a:ext cx="3931920" cy="365760"/>
          </a:xfrm>
          <a:prstGeom prst="rect">
            <a:avLst/>
          </a:prstGeom>
          <a:noFill/>
        </p:spPr>
        <p:txBody>
          <a:bodyPr wrap="square">
            <a:spAutoFit/>
          </a:bodyPr>
          <a:lstStyle/>
          <a:p>
            <a:pPr algn="l">
              <a:defRPr sz="1100" b="1" i="0">
                <a:solidFill>
                  <a:srgbClr val="FFFFFF"/>
                </a:solidFill>
                <a:latin typeface="Trebuchet MS"/>
              </a:defRPr>
            </a:pPr>
            <a:r>
              <a:t>Column / Issue</a:t>
            </a:r>
          </a:p>
        </p:txBody>
      </p:sp>
      <p:sp>
        <p:nvSpPr>
          <p:cNvPr id="20" name="TextBox 19"/>
          <p:cNvSpPr txBox="1"/>
          <p:nvPr/>
        </p:nvSpPr>
        <p:spPr>
          <a:xfrm>
            <a:off x="4572000" y="3127248"/>
            <a:ext cx="7132320" cy="365760"/>
          </a:xfrm>
          <a:prstGeom prst="rect">
            <a:avLst/>
          </a:prstGeom>
          <a:noFill/>
        </p:spPr>
        <p:txBody>
          <a:bodyPr wrap="square">
            <a:spAutoFit/>
          </a:bodyPr>
          <a:lstStyle/>
          <a:p>
            <a:pPr algn="l">
              <a:defRPr sz="1100" b="1" i="0">
                <a:solidFill>
                  <a:srgbClr val="FFFFFF"/>
                </a:solidFill>
                <a:latin typeface="Trebuchet MS"/>
              </a:defRPr>
            </a:pPr>
            <a:r>
              <a:t>Action Taken</a:t>
            </a:r>
          </a:p>
        </p:txBody>
      </p:sp>
      <p:sp>
        <p:nvSpPr>
          <p:cNvPr id="21" name="Rectangle 20"/>
          <p:cNvSpPr/>
          <p:nvPr/>
        </p:nvSpPr>
        <p:spPr>
          <a:xfrm>
            <a:off x="365760" y="3557016"/>
            <a:ext cx="4114800" cy="475488"/>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80560" y="3557016"/>
            <a:ext cx="7315200" cy="475488"/>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3621024"/>
            <a:ext cx="3931920" cy="365760"/>
          </a:xfrm>
          <a:prstGeom prst="rect">
            <a:avLst/>
          </a:prstGeom>
          <a:noFill/>
        </p:spPr>
        <p:txBody>
          <a:bodyPr wrap="square">
            <a:spAutoFit/>
          </a:bodyPr>
          <a:lstStyle/>
          <a:p>
            <a:pPr algn="l">
              <a:defRPr sz="1100" b="0" i="0">
                <a:solidFill>
                  <a:srgbClr val="0A192F"/>
                </a:solidFill>
                <a:latin typeface="Trebuchet MS"/>
              </a:defRPr>
            </a:pPr>
            <a:r>
              <a:t>Company (94% missing)</a:t>
            </a:r>
          </a:p>
        </p:txBody>
      </p:sp>
      <p:sp>
        <p:nvSpPr>
          <p:cNvPr id="24" name="TextBox 23"/>
          <p:cNvSpPr txBox="1"/>
          <p:nvPr/>
        </p:nvSpPr>
        <p:spPr>
          <a:xfrm>
            <a:off x="4572000" y="3621024"/>
            <a:ext cx="7132320" cy="365760"/>
          </a:xfrm>
          <a:prstGeom prst="rect">
            <a:avLst/>
          </a:prstGeom>
          <a:noFill/>
        </p:spPr>
        <p:txBody>
          <a:bodyPr wrap="square">
            <a:spAutoFit/>
          </a:bodyPr>
          <a:lstStyle/>
          <a:p>
            <a:pPr algn="l">
              <a:defRPr sz="1100" b="0" i="0">
                <a:solidFill>
                  <a:srgbClr val="0A192F"/>
                </a:solidFill>
                <a:latin typeface="Trebuchet MS"/>
              </a:defRPr>
            </a:pPr>
            <a:r>
              <a:t>Dropped — too sparse to carry any useful signal</a:t>
            </a:r>
          </a:p>
        </p:txBody>
      </p:sp>
      <p:sp>
        <p:nvSpPr>
          <p:cNvPr id="25" name="Rectangle 24"/>
          <p:cNvSpPr/>
          <p:nvPr/>
        </p:nvSpPr>
        <p:spPr>
          <a:xfrm>
            <a:off x="365760" y="4050791"/>
            <a:ext cx="4114800" cy="475488"/>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480560" y="4050791"/>
            <a:ext cx="7315200" cy="475488"/>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4114800"/>
            <a:ext cx="3931920" cy="365760"/>
          </a:xfrm>
          <a:prstGeom prst="rect">
            <a:avLst/>
          </a:prstGeom>
          <a:noFill/>
        </p:spPr>
        <p:txBody>
          <a:bodyPr wrap="square">
            <a:spAutoFit/>
          </a:bodyPr>
          <a:lstStyle/>
          <a:p>
            <a:pPr algn="l">
              <a:defRPr sz="1100" b="0" i="0">
                <a:solidFill>
                  <a:srgbClr val="0A192F"/>
                </a:solidFill>
                <a:latin typeface="Trebuchet MS"/>
              </a:defRPr>
            </a:pPr>
            <a:r>
              <a:t>Agent (14% missing, high cardinality)</a:t>
            </a:r>
          </a:p>
        </p:txBody>
      </p:sp>
      <p:sp>
        <p:nvSpPr>
          <p:cNvPr id="28" name="TextBox 27"/>
          <p:cNvSpPr txBox="1"/>
          <p:nvPr/>
        </p:nvSpPr>
        <p:spPr>
          <a:xfrm>
            <a:off x="4572000" y="4114800"/>
            <a:ext cx="7132320" cy="365760"/>
          </a:xfrm>
          <a:prstGeom prst="rect">
            <a:avLst/>
          </a:prstGeom>
          <a:noFill/>
        </p:spPr>
        <p:txBody>
          <a:bodyPr wrap="square">
            <a:spAutoFit/>
          </a:bodyPr>
          <a:lstStyle/>
          <a:p>
            <a:pPr algn="l">
              <a:defRPr sz="1100" b="0" i="0">
                <a:solidFill>
                  <a:srgbClr val="0A192F"/>
                </a:solidFill>
                <a:latin typeface="Trebuchet MS"/>
              </a:defRPr>
            </a:pPr>
            <a:r>
              <a:t>Dropped — internal ID with no semantic value for prediction</a:t>
            </a:r>
          </a:p>
        </p:txBody>
      </p:sp>
      <p:sp>
        <p:nvSpPr>
          <p:cNvPr id="29" name="Rectangle 28"/>
          <p:cNvSpPr/>
          <p:nvPr/>
        </p:nvSpPr>
        <p:spPr>
          <a:xfrm>
            <a:off x="365760" y="4544568"/>
            <a:ext cx="4114800" cy="475488"/>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480560" y="4544568"/>
            <a:ext cx="7315200" cy="475488"/>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4608576"/>
            <a:ext cx="3931920" cy="365760"/>
          </a:xfrm>
          <a:prstGeom prst="rect">
            <a:avLst/>
          </a:prstGeom>
          <a:noFill/>
        </p:spPr>
        <p:txBody>
          <a:bodyPr wrap="square">
            <a:spAutoFit/>
          </a:bodyPr>
          <a:lstStyle/>
          <a:p>
            <a:pPr algn="l">
              <a:defRPr sz="1100" b="0" i="0">
                <a:solidFill>
                  <a:srgbClr val="0A192F"/>
                </a:solidFill>
                <a:latin typeface="Trebuchet MS"/>
              </a:defRPr>
            </a:pPr>
            <a:r>
              <a:t>Country (488 missing values)</a:t>
            </a:r>
          </a:p>
        </p:txBody>
      </p:sp>
      <p:sp>
        <p:nvSpPr>
          <p:cNvPr id="32" name="TextBox 31"/>
          <p:cNvSpPr txBox="1"/>
          <p:nvPr/>
        </p:nvSpPr>
        <p:spPr>
          <a:xfrm>
            <a:off x="4572000" y="4608576"/>
            <a:ext cx="7132320" cy="365760"/>
          </a:xfrm>
          <a:prstGeom prst="rect">
            <a:avLst/>
          </a:prstGeom>
          <a:noFill/>
        </p:spPr>
        <p:txBody>
          <a:bodyPr wrap="square">
            <a:spAutoFit/>
          </a:bodyPr>
          <a:lstStyle/>
          <a:p>
            <a:pPr algn="l">
              <a:defRPr sz="1100" b="0" i="0">
                <a:solidFill>
                  <a:srgbClr val="0A192F"/>
                </a:solidFill>
                <a:latin typeface="Trebuchet MS"/>
              </a:defRPr>
            </a:pPr>
            <a:r>
              <a:t>Filled with mode — most frequent country in dataset</a:t>
            </a:r>
          </a:p>
        </p:txBody>
      </p:sp>
      <p:sp>
        <p:nvSpPr>
          <p:cNvPr id="33" name="Rectangle 32"/>
          <p:cNvSpPr/>
          <p:nvPr/>
        </p:nvSpPr>
        <p:spPr>
          <a:xfrm>
            <a:off x="365760" y="5038344"/>
            <a:ext cx="4114800" cy="475488"/>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480560" y="5038344"/>
            <a:ext cx="7315200" cy="475488"/>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7200" y="5102352"/>
            <a:ext cx="3931920" cy="365760"/>
          </a:xfrm>
          <a:prstGeom prst="rect">
            <a:avLst/>
          </a:prstGeom>
          <a:noFill/>
        </p:spPr>
        <p:txBody>
          <a:bodyPr wrap="square">
            <a:spAutoFit/>
          </a:bodyPr>
          <a:lstStyle/>
          <a:p>
            <a:pPr algn="l">
              <a:defRPr sz="1100" b="0" i="0">
                <a:solidFill>
                  <a:srgbClr val="0A192F"/>
                </a:solidFill>
                <a:latin typeface="Trebuchet MS"/>
              </a:defRPr>
            </a:pPr>
            <a:r>
              <a:t>Children (4 missing values)</a:t>
            </a:r>
          </a:p>
        </p:txBody>
      </p:sp>
      <p:sp>
        <p:nvSpPr>
          <p:cNvPr id="36" name="TextBox 35"/>
          <p:cNvSpPr txBox="1"/>
          <p:nvPr/>
        </p:nvSpPr>
        <p:spPr>
          <a:xfrm>
            <a:off x="4572000" y="5102352"/>
            <a:ext cx="7132320" cy="365760"/>
          </a:xfrm>
          <a:prstGeom prst="rect">
            <a:avLst/>
          </a:prstGeom>
          <a:noFill/>
        </p:spPr>
        <p:txBody>
          <a:bodyPr wrap="square">
            <a:spAutoFit/>
          </a:bodyPr>
          <a:lstStyle/>
          <a:p>
            <a:pPr algn="l">
              <a:defRPr sz="1100" b="0" i="0">
                <a:solidFill>
                  <a:srgbClr val="0A192F"/>
                </a:solidFill>
                <a:latin typeface="Trebuchet MS"/>
              </a:defRPr>
            </a:pPr>
            <a:r>
              <a:t>Assumed zero — reasonable default for missing family data</a:t>
            </a:r>
          </a:p>
        </p:txBody>
      </p:sp>
      <p:sp>
        <p:nvSpPr>
          <p:cNvPr id="37" name="Rectangle 36"/>
          <p:cNvSpPr/>
          <p:nvPr/>
        </p:nvSpPr>
        <p:spPr>
          <a:xfrm>
            <a:off x="365760" y="5532120"/>
            <a:ext cx="4114800" cy="475488"/>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480560" y="5532120"/>
            <a:ext cx="7315200" cy="475488"/>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596128"/>
            <a:ext cx="3931920" cy="365760"/>
          </a:xfrm>
          <a:prstGeom prst="rect">
            <a:avLst/>
          </a:prstGeom>
          <a:noFill/>
        </p:spPr>
        <p:txBody>
          <a:bodyPr wrap="square">
            <a:spAutoFit/>
          </a:bodyPr>
          <a:lstStyle/>
          <a:p>
            <a:pPr algn="l">
              <a:defRPr sz="1100" b="0" i="0">
                <a:solidFill>
                  <a:srgbClr val="0A192F"/>
                </a:solidFill>
                <a:latin typeface="Trebuchet MS"/>
              </a:defRPr>
            </a:pPr>
            <a:r>
              <a:t>reservation_status + date</a:t>
            </a:r>
          </a:p>
        </p:txBody>
      </p:sp>
      <p:sp>
        <p:nvSpPr>
          <p:cNvPr id="40" name="TextBox 39"/>
          <p:cNvSpPr txBox="1"/>
          <p:nvPr/>
        </p:nvSpPr>
        <p:spPr>
          <a:xfrm>
            <a:off x="4572000" y="5596128"/>
            <a:ext cx="7132320" cy="365760"/>
          </a:xfrm>
          <a:prstGeom prst="rect">
            <a:avLst/>
          </a:prstGeom>
          <a:noFill/>
        </p:spPr>
        <p:txBody>
          <a:bodyPr wrap="square">
            <a:spAutoFit/>
          </a:bodyPr>
          <a:lstStyle/>
          <a:p>
            <a:pPr algn="l">
              <a:defRPr sz="1100" b="0" i="0">
                <a:solidFill>
                  <a:srgbClr val="0A192F"/>
                </a:solidFill>
                <a:latin typeface="Trebuchet MS"/>
              </a:defRPr>
            </a:pPr>
            <a:r>
              <a:rPr dirty="0"/>
              <a:t>Excluded — post-outcome fields cause data leakage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430000" cy="1005840"/>
          </a:xfrm>
          <a:prstGeom prst="rect">
            <a:avLst/>
          </a:prstGeom>
          <a:noFill/>
        </p:spPr>
        <p:txBody>
          <a:bodyPr wrap="square">
            <a:spAutoFit/>
          </a:bodyPr>
          <a:lstStyle/>
          <a:p>
            <a:pPr algn="l">
              <a:defRPr sz="1700" b="1" i="0">
                <a:solidFill>
                  <a:srgbClr val="FFFFFF"/>
                </a:solidFill>
                <a:latin typeface="Trebuchet MS"/>
              </a:defRPr>
            </a:pPr>
            <a:r>
              <a:t>EXPLORATORY ANALYSIS: WHERE THE RISK SITS</a:t>
            </a:r>
          </a:p>
        </p:txBody>
      </p:sp>
      <p:sp>
        <p:nvSpPr>
          <p:cNvPr id="4" name="TextBox 3"/>
          <p:cNvSpPr txBox="1"/>
          <p:nvPr/>
        </p:nvSpPr>
        <p:spPr>
          <a:xfrm>
            <a:off x="365760" y="1051560"/>
            <a:ext cx="6858000" cy="276999"/>
          </a:xfrm>
          <a:prstGeom prst="rect">
            <a:avLst/>
          </a:prstGeom>
          <a:noFill/>
        </p:spPr>
        <p:txBody>
          <a:bodyPr wrap="square">
            <a:spAutoFit/>
          </a:bodyPr>
          <a:lstStyle/>
          <a:p>
            <a:pPr algn="l">
              <a:defRPr sz="1200" b="1" i="0">
                <a:solidFill>
                  <a:srgbClr val="0A192F"/>
                </a:solidFill>
                <a:latin typeface="Trebuchet MS"/>
              </a:defRPr>
            </a:pPr>
            <a:r>
              <a:rPr dirty="0"/>
              <a:t>Cancellation Rate by </a:t>
            </a:r>
            <a:r>
              <a:rPr lang="en-US" dirty="0"/>
              <a:t>Market Segment</a:t>
            </a:r>
            <a:r>
              <a:rPr dirty="0"/>
              <a:t>(%)</a:t>
            </a:r>
          </a:p>
        </p:txBody>
      </p:sp>
      <p:sp>
        <p:nvSpPr>
          <p:cNvPr id="5" name="TextBox 4"/>
          <p:cNvSpPr txBox="1"/>
          <p:nvPr/>
        </p:nvSpPr>
        <p:spPr>
          <a:xfrm>
            <a:off x="365760" y="1554480"/>
            <a:ext cx="2011680" cy="457200"/>
          </a:xfrm>
          <a:prstGeom prst="rect">
            <a:avLst/>
          </a:prstGeom>
          <a:noFill/>
        </p:spPr>
        <p:txBody>
          <a:bodyPr wrap="square">
            <a:spAutoFit/>
          </a:bodyPr>
          <a:lstStyle/>
          <a:p>
            <a:pPr algn="l">
              <a:defRPr sz="1100" b="0" i="0">
                <a:solidFill>
                  <a:srgbClr val="4A5568"/>
                </a:solidFill>
                <a:latin typeface="Trebuchet MS"/>
              </a:defRPr>
            </a:pPr>
            <a:r>
              <a:t>Undefined</a:t>
            </a:r>
          </a:p>
        </p:txBody>
      </p:sp>
      <p:sp>
        <p:nvSpPr>
          <p:cNvPr id="6" name="Rectangle 5"/>
          <p:cNvSpPr/>
          <p:nvPr/>
        </p:nvSpPr>
        <p:spPr>
          <a:xfrm>
            <a:off x="2423160" y="1581912"/>
            <a:ext cx="5029200"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43800" y="1581912"/>
            <a:ext cx="548640" cy="347472"/>
          </a:xfrm>
          <a:prstGeom prst="rect">
            <a:avLst/>
          </a:prstGeom>
          <a:noFill/>
        </p:spPr>
        <p:txBody>
          <a:bodyPr wrap="square">
            <a:spAutoFit/>
          </a:bodyPr>
          <a:lstStyle/>
          <a:p>
            <a:pPr algn="l">
              <a:defRPr sz="1100" b="1" i="0">
                <a:solidFill>
                  <a:srgbClr val="0A192F"/>
                </a:solidFill>
                <a:latin typeface="Trebuchet MS"/>
              </a:defRPr>
            </a:pPr>
            <a:r>
              <a:t>100%</a:t>
            </a:r>
          </a:p>
        </p:txBody>
      </p:sp>
      <p:sp>
        <p:nvSpPr>
          <p:cNvPr id="8" name="TextBox 7"/>
          <p:cNvSpPr txBox="1"/>
          <p:nvPr/>
        </p:nvSpPr>
        <p:spPr>
          <a:xfrm>
            <a:off x="365760" y="2167127"/>
            <a:ext cx="2011680" cy="457200"/>
          </a:xfrm>
          <a:prstGeom prst="rect">
            <a:avLst/>
          </a:prstGeom>
          <a:noFill/>
        </p:spPr>
        <p:txBody>
          <a:bodyPr wrap="square">
            <a:spAutoFit/>
          </a:bodyPr>
          <a:lstStyle/>
          <a:p>
            <a:pPr algn="l">
              <a:defRPr sz="1100" b="0" i="0">
                <a:solidFill>
                  <a:srgbClr val="4A5568"/>
                </a:solidFill>
                <a:latin typeface="Trebuchet MS"/>
              </a:defRPr>
            </a:pPr>
            <a:r>
              <a:t>Online TA</a:t>
            </a:r>
          </a:p>
        </p:txBody>
      </p:sp>
      <p:sp>
        <p:nvSpPr>
          <p:cNvPr id="9" name="Rectangle 8"/>
          <p:cNvSpPr/>
          <p:nvPr/>
        </p:nvSpPr>
        <p:spPr>
          <a:xfrm>
            <a:off x="2423160" y="2194560"/>
            <a:ext cx="1760219" cy="347472"/>
          </a:xfrm>
          <a:prstGeom prst="rect">
            <a:avLst/>
          </a:prstGeom>
          <a:solidFill>
            <a:srgbClr val="B4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74819" y="2194560"/>
            <a:ext cx="548640" cy="347472"/>
          </a:xfrm>
          <a:prstGeom prst="rect">
            <a:avLst/>
          </a:prstGeom>
          <a:noFill/>
        </p:spPr>
        <p:txBody>
          <a:bodyPr wrap="square">
            <a:spAutoFit/>
          </a:bodyPr>
          <a:lstStyle/>
          <a:p>
            <a:pPr algn="l">
              <a:defRPr sz="1100" b="1" i="0">
                <a:solidFill>
                  <a:srgbClr val="0A192F"/>
                </a:solidFill>
                <a:latin typeface="Trebuchet MS"/>
              </a:defRPr>
            </a:pPr>
            <a:r>
              <a:t>35%</a:t>
            </a:r>
          </a:p>
        </p:txBody>
      </p:sp>
      <p:sp>
        <p:nvSpPr>
          <p:cNvPr id="11" name="TextBox 10"/>
          <p:cNvSpPr txBox="1"/>
          <p:nvPr/>
        </p:nvSpPr>
        <p:spPr>
          <a:xfrm>
            <a:off x="365760" y="2779776"/>
            <a:ext cx="2011680" cy="457200"/>
          </a:xfrm>
          <a:prstGeom prst="rect">
            <a:avLst/>
          </a:prstGeom>
          <a:noFill/>
        </p:spPr>
        <p:txBody>
          <a:bodyPr wrap="square">
            <a:spAutoFit/>
          </a:bodyPr>
          <a:lstStyle/>
          <a:p>
            <a:pPr algn="l">
              <a:defRPr sz="1100" b="0" i="0">
                <a:solidFill>
                  <a:srgbClr val="4A5568"/>
                </a:solidFill>
                <a:latin typeface="Trebuchet MS"/>
              </a:defRPr>
            </a:pPr>
            <a:r>
              <a:t>Groups</a:t>
            </a:r>
          </a:p>
        </p:txBody>
      </p:sp>
      <p:sp>
        <p:nvSpPr>
          <p:cNvPr id="12" name="Rectangle 11"/>
          <p:cNvSpPr/>
          <p:nvPr/>
        </p:nvSpPr>
        <p:spPr>
          <a:xfrm>
            <a:off x="2423160" y="2807208"/>
            <a:ext cx="1408176" cy="347472"/>
          </a:xfrm>
          <a:prstGeom prst="rect">
            <a:avLst/>
          </a:prstGeom>
          <a:solidFill>
            <a:srgbClr val="B46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922775" y="2807208"/>
            <a:ext cx="548640" cy="347472"/>
          </a:xfrm>
          <a:prstGeom prst="rect">
            <a:avLst/>
          </a:prstGeom>
          <a:noFill/>
        </p:spPr>
        <p:txBody>
          <a:bodyPr wrap="square">
            <a:spAutoFit/>
          </a:bodyPr>
          <a:lstStyle/>
          <a:p>
            <a:pPr algn="l">
              <a:defRPr sz="1100" b="1" i="0">
                <a:solidFill>
                  <a:srgbClr val="0A192F"/>
                </a:solidFill>
                <a:latin typeface="Trebuchet MS"/>
              </a:defRPr>
            </a:pPr>
            <a:r>
              <a:t>28%</a:t>
            </a:r>
          </a:p>
        </p:txBody>
      </p:sp>
      <p:sp>
        <p:nvSpPr>
          <p:cNvPr id="14" name="TextBox 13"/>
          <p:cNvSpPr txBox="1"/>
          <p:nvPr/>
        </p:nvSpPr>
        <p:spPr>
          <a:xfrm>
            <a:off x="365760" y="3392424"/>
            <a:ext cx="2011680" cy="457200"/>
          </a:xfrm>
          <a:prstGeom prst="rect">
            <a:avLst/>
          </a:prstGeom>
          <a:noFill/>
        </p:spPr>
        <p:txBody>
          <a:bodyPr wrap="square">
            <a:spAutoFit/>
          </a:bodyPr>
          <a:lstStyle/>
          <a:p>
            <a:pPr algn="l">
              <a:defRPr sz="1100" b="0" i="0">
                <a:solidFill>
                  <a:srgbClr val="4A5568"/>
                </a:solidFill>
                <a:latin typeface="Trebuchet MS"/>
              </a:defRPr>
            </a:pPr>
            <a:r>
              <a:t>Offline TA</a:t>
            </a:r>
          </a:p>
        </p:txBody>
      </p:sp>
      <p:sp>
        <p:nvSpPr>
          <p:cNvPr id="15" name="Rectangle 14"/>
          <p:cNvSpPr/>
          <p:nvPr/>
        </p:nvSpPr>
        <p:spPr>
          <a:xfrm>
            <a:off x="2423160" y="3419856"/>
            <a:ext cx="1106424" cy="347472"/>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21024" y="3419856"/>
            <a:ext cx="548640" cy="347472"/>
          </a:xfrm>
          <a:prstGeom prst="rect">
            <a:avLst/>
          </a:prstGeom>
          <a:noFill/>
        </p:spPr>
        <p:txBody>
          <a:bodyPr wrap="square">
            <a:spAutoFit/>
          </a:bodyPr>
          <a:lstStyle/>
          <a:p>
            <a:pPr algn="l">
              <a:defRPr sz="1100" b="1" i="0">
                <a:solidFill>
                  <a:srgbClr val="0A192F"/>
                </a:solidFill>
                <a:latin typeface="Trebuchet MS"/>
              </a:defRPr>
            </a:pPr>
            <a:r>
              <a:t>22%</a:t>
            </a:r>
          </a:p>
        </p:txBody>
      </p:sp>
      <p:sp>
        <p:nvSpPr>
          <p:cNvPr id="17" name="TextBox 16"/>
          <p:cNvSpPr txBox="1"/>
          <p:nvPr/>
        </p:nvSpPr>
        <p:spPr>
          <a:xfrm>
            <a:off x="365760" y="4005072"/>
            <a:ext cx="2011680" cy="457200"/>
          </a:xfrm>
          <a:prstGeom prst="rect">
            <a:avLst/>
          </a:prstGeom>
          <a:noFill/>
        </p:spPr>
        <p:txBody>
          <a:bodyPr wrap="square">
            <a:spAutoFit/>
          </a:bodyPr>
          <a:lstStyle/>
          <a:p>
            <a:pPr algn="l">
              <a:defRPr sz="1100" b="0" i="0">
                <a:solidFill>
                  <a:srgbClr val="4A5568"/>
                </a:solidFill>
                <a:latin typeface="Trebuchet MS"/>
              </a:defRPr>
            </a:pPr>
            <a:r>
              <a:t>Direct</a:t>
            </a:r>
          </a:p>
        </p:txBody>
      </p:sp>
      <p:sp>
        <p:nvSpPr>
          <p:cNvPr id="18" name="Rectangle 17"/>
          <p:cNvSpPr/>
          <p:nvPr/>
        </p:nvSpPr>
        <p:spPr>
          <a:xfrm>
            <a:off x="2423160" y="4032504"/>
            <a:ext cx="754380" cy="347472"/>
          </a:xfrm>
          <a:prstGeom prst="rect">
            <a:avLst/>
          </a:prstGeom>
          <a:solidFill>
            <a:srgbClr val="2782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68979" y="4032504"/>
            <a:ext cx="548640" cy="347472"/>
          </a:xfrm>
          <a:prstGeom prst="rect">
            <a:avLst/>
          </a:prstGeom>
          <a:noFill/>
        </p:spPr>
        <p:txBody>
          <a:bodyPr wrap="square">
            <a:spAutoFit/>
          </a:bodyPr>
          <a:lstStyle/>
          <a:p>
            <a:pPr algn="l">
              <a:defRPr sz="1100" b="1" i="0">
                <a:solidFill>
                  <a:srgbClr val="0A192F"/>
                </a:solidFill>
                <a:latin typeface="Trebuchet MS"/>
              </a:defRPr>
            </a:pPr>
            <a:r>
              <a:t>15%</a:t>
            </a:r>
          </a:p>
        </p:txBody>
      </p:sp>
      <p:sp>
        <p:nvSpPr>
          <p:cNvPr id="20" name="TextBox 19"/>
          <p:cNvSpPr txBox="1"/>
          <p:nvPr/>
        </p:nvSpPr>
        <p:spPr>
          <a:xfrm>
            <a:off x="365760" y="4617720"/>
            <a:ext cx="2011680" cy="457200"/>
          </a:xfrm>
          <a:prstGeom prst="rect">
            <a:avLst/>
          </a:prstGeom>
          <a:noFill/>
        </p:spPr>
        <p:txBody>
          <a:bodyPr wrap="square">
            <a:spAutoFit/>
          </a:bodyPr>
          <a:lstStyle/>
          <a:p>
            <a:pPr algn="l">
              <a:defRPr sz="1100" b="0" i="0">
                <a:solidFill>
                  <a:srgbClr val="4A5568"/>
                </a:solidFill>
                <a:latin typeface="Trebuchet MS"/>
              </a:defRPr>
            </a:pPr>
            <a:r>
              <a:t>Corporate</a:t>
            </a:r>
          </a:p>
        </p:txBody>
      </p:sp>
      <p:sp>
        <p:nvSpPr>
          <p:cNvPr id="21" name="Rectangle 20"/>
          <p:cNvSpPr/>
          <p:nvPr/>
        </p:nvSpPr>
        <p:spPr>
          <a:xfrm>
            <a:off x="2423160" y="4645152"/>
            <a:ext cx="603503"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18103" y="4645152"/>
            <a:ext cx="548640" cy="347472"/>
          </a:xfrm>
          <a:prstGeom prst="rect">
            <a:avLst/>
          </a:prstGeom>
          <a:noFill/>
        </p:spPr>
        <p:txBody>
          <a:bodyPr wrap="square">
            <a:spAutoFit/>
          </a:bodyPr>
          <a:lstStyle/>
          <a:p>
            <a:pPr algn="l">
              <a:defRPr sz="1100" b="1" i="0">
                <a:solidFill>
                  <a:srgbClr val="0A192F"/>
                </a:solidFill>
                <a:latin typeface="Trebuchet MS"/>
              </a:defRPr>
            </a:pPr>
            <a:r>
              <a:t>12%</a:t>
            </a:r>
          </a:p>
        </p:txBody>
      </p:sp>
      <p:sp>
        <p:nvSpPr>
          <p:cNvPr id="23" name="TextBox 22"/>
          <p:cNvSpPr txBox="1"/>
          <p:nvPr/>
        </p:nvSpPr>
        <p:spPr>
          <a:xfrm>
            <a:off x="365760" y="5230368"/>
            <a:ext cx="2011680" cy="457200"/>
          </a:xfrm>
          <a:prstGeom prst="rect">
            <a:avLst/>
          </a:prstGeom>
          <a:noFill/>
        </p:spPr>
        <p:txBody>
          <a:bodyPr wrap="square">
            <a:spAutoFit/>
          </a:bodyPr>
          <a:lstStyle/>
          <a:p>
            <a:pPr algn="l">
              <a:defRPr sz="1100" b="0" i="0">
                <a:solidFill>
                  <a:srgbClr val="4A5568"/>
                </a:solidFill>
                <a:latin typeface="Trebuchet MS"/>
              </a:defRPr>
            </a:pPr>
            <a:r>
              <a:t>Complementary</a:t>
            </a:r>
          </a:p>
        </p:txBody>
      </p:sp>
      <p:sp>
        <p:nvSpPr>
          <p:cNvPr id="24" name="Rectangle 23"/>
          <p:cNvSpPr/>
          <p:nvPr/>
        </p:nvSpPr>
        <p:spPr>
          <a:xfrm>
            <a:off x="2423160" y="5257800"/>
            <a:ext cx="402336"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16936" y="5257800"/>
            <a:ext cx="548640" cy="347472"/>
          </a:xfrm>
          <a:prstGeom prst="rect">
            <a:avLst/>
          </a:prstGeom>
          <a:noFill/>
        </p:spPr>
        <p:txBody>
          <a:bodyPr wrap="square">
            <a:spAutoFit/>
          </a:bodyPr>
          <a:lstStyle/>
          <a:p>
            <a:pPr algn="l">
              <a:defRPr sz="1100" b="1" i="0">
                <a:solidFill>
                  <a:srgbClr val="0A192F"/>
                </a:solidFill>
                <a:latin typeface="Trebuchet MS"/>
              </a:defRPr>
            </a:pPr>
            <a:r>
              <a:t>8%</a:t>
            </a:r>
          </a:p>
        </p:txBody>
      </p:sp>
      <p:sp>
        <p:nvSpPr>
          <p:cNvPr id="26" name="TextBox 25"/>
          <p:cNvSpPr txBox="1"/>
          <p:nvPr/>
        </p:nvSpPr>
        <p:spPr>
          <a:xfrm>
            <a:off x="7589520" y="1051560"/>
            <a:ext cx="4206240" cy="365760"/>
          </a:xfrm>
          <a:prstGeom prst="rect">
            <a:avLst/>
          </a:prstGeom>
          <a:noFill/>
        </p:spPr>
        <p:txBody>
          <a:bodyPr wrap="square">
            <a:spAutoFit/>
          </a:bodyPr>
          <a:lstStyle/>
          <a:p>
            <a:pPr algn="l">
              <a:defRPr sz="1300" b="1" i="0">
                <a:solidFill>
                  <a:srgbClr val="0A192F"/>
                </a:solidFill>
                <a:latin typeface="Trebuchet MS"/>
              </a:defRPr>
            </a:pPr>
            <a:r>
              <a:t>Key Findings</a:t>
            </a:r>
          </a:p>
        </p:txBody>
      </p:sp>
      <p:sp>
        <p:nvSpPr>
          <p:cNvPr id="27" name="Rectangle 26"/>
          <p:cNvSpPr/>
          <p:nvPr/>
        </p:nvSpPr>
        <p:spPr>
          <a:xfrm>
            <a:off x="7589520" y="1508760"/>
            <a:ext cx="4206240" cy="1143000"/>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589520" y="1508760"/>
            <a:ext cx="73152" cy="1143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72400" y="1600200"/>
            <a:ext cx="3840480" cy="365760"/>
          </a:xfrm>
          <a:prstGeom prst="rect">
            <a:avLst/>
          </a:prstGeom>
          <a:noFill/>
        </p:spPr>
        <p:txBody>
          <a:bodyPr wrap="square">
            <a:spAutoFit/>
          </a:bodyPr>
          <a:lstStyle/>
          <a:p>
            <a:pPr algn="l">
              <a:defRPr sz="1100" b="1" i="0">
                <a:solidFill>
                  <a:srgbClr val="0A192F"/>
                </a:solidFill>
                <a:latin typeface="Trebuchet MS"/>
              </a:defRPr>
            </a:pPr>
            <a:r>
              <a:t>Lead time strongest predictor</a:t>
            </a:r>
          </a:p>
        </p:txBody>
      </p:sp>
      <p:sp>
        <p:nvSpPr>
          <p:cNvPr id="30" name="TextBox 29"/>
          <p:cNvSpPr txBox="1"/>
          <p:nvPr/>
        </p:nvSpPr>
        <p:spPr>
          <a:xfrm>
            <a:off x="7772400" y="1965960"/>
            <a:ext cx="3840480" cy="261610"/>
          </a:xfrm>
          <a:prstGeom prst="rect">
            <a:avLst/>
          </a:prstGeom>
          <a:noFill/>
        </p:spPr>
        <p:txBody>
          <a:bodyPr wrap="square">
            <a:spAutoFit/>
          </a:bodyPr>
          <a:lstStyle/>
          <a:p>
            <a:pPr algn="l">
              <a:defRPr sz="1100" b="0" i="0">
                <a:solidFill>
                  <a:srgbClr val="4A5568"/>
                </a:solidFill>
                <a:latin typeface="Trebuchet MS"/>
              </a:defRPr>
            </a:pPr>
            <a:r>
              <a:rPr dirty="0"/>
              <a:t>+0.</a:t>
            </a:r>
            <a:r>
              <a:rPr lang="en-US" dirty="0"/>
              <a:t>18</a:t>
            </a:r>
            <a:r>
              <a:rPr dirty="0"/>
              <a:t> correlation with cancellation</a:t>
            </a:r>
          </a:p>
        </p:txBody>
      </p:sp>
      <p:sp>
        <p:nvSpPr>
          <p:cNvPr id="31" name="Rectangle 30"/>
          <p:cNvSpPr/>
          <p:nvPr/>
        </p:nvSpPr>
        <p:spPr>
          <a:xfrm>
            <a:off x="7589520" y="2743200"/>
            <a:ext cx="4206240" cy="1143000"/>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589520" y="2743200"/>
            <a:ext cx="73152" cy="1143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72400" y="2834640"/>
            <a:ext cx="3840480" cy="365760"/>
          </a:xfrm>
          <a:prstGeom prst="rect">
            <a:avLst/>
          </a:prstGeom>
          <a:noFill/>
        </p:spPr>
        <p:txBody>
          <a:bodyPr wrap="square">
            <a:spAutoFit/>
          </a:bodyPr>
          <a:lstStyle/>
          <a:p>
            <a:pPr algn="l">
              <a:defRPr sz="1100" b="1" i="0">
                <a:solidFill>
                  <a:srgbClr val="0A192F"/>
                </a:solidFill>
                <a:latin typeface="Trebuchet MS"/>
              </a:defRPr>
            </a:pPr>
            <a:r>
              <a:t>Cancelled bookings</a:t>
            </a:r>
          </a:p>
        </p:txBody>
      </p:sp>
      <p:sp>
        <p:nvSpPr>
          <p:cNvPr id="34" name="TextBox 33"/>
          <p:cNvSpPr txBox="1"/>
          <p:nvPr/>
        </p:nvSpPr>
        <p:spPr>
          <a:xfrm>
            <a:off x="7772400" y="3200400"/>
            <a:ext cx="3840480" cy="261610"/>
          </a:xfrm>
          <a:prstGeom prst="rect">
            <a:avLst/>
          </a:prstGeom>
          <a:noFill/>
        </p:spPr>
        <p:txBody>
          <a:bodyPr wrap="square">
            <a:spAutoFit/>
          </a:bodyPr>
          <a:lstStyle/>
          <a:p>
            <a:pPr algn="l">
              <a:defRPr sz="1100" b="0" i="0">
                <a:solidFill>
                  <a:srgbClr val="4A5568"/>
                </a:solidFill>
                <a:latin typeface="Trebuchet MS"/>
              </a:defRPr>
            </a:pPr>
            <a:r>
              <a:rPr dirty="0"/>
              <a:t>Median lead time </a:t>
            </a:r>
            <a:r>
              <a:rPr lang="en-US" dirty="0"/>
              <a:t>100</a:t>
            </a:r>
            <a:r>
              <a:rPr dirty="0"/>
              <a:t> days vs </a:t>
            </a:r>
            <a:r>
              <a:rPr lang="en-US" dirty="0"/>
              <a:t>40</a:t>
            </a:r>
            <a:r>
              <a:rPr dirty="0"/>
              <a:t> days (stayed)</a:t>
            </a:r>
          </a:p>
        </p:txBody>
      </p:sp>
      <p:sp>
        <p:nvSpPr>
          <p:cNvPr id="35" name="Rectangle 34"/>
          <p:cNvSpPr/>
          <p:nvPr/>
        </p:nvSpPr>
        <p:spPr>
          <a:xfrm>
            <a:off x="7589520" y="3977639"/>
            <a:ext cx="4206240" cy="1143000"/>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589520" y="3977639"/>
            <a:ext cx="73152" cy="1143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72400" y="4069079"/>
            <a:ext cx="3840480" cy="365760"/>
          </a:xfrm>
          <a:prstGeom prst="rect">
            <a:avLst/>
          </a:prstGeom>
          <a:noFill/>
        </p:spPr>
        <p:txBody>
          <a:bodyPr wrap="square">
            <a:spAutoFit/>
          </a:bodyPr>
          <a:lstStyle/>
          <a:p>
            <a:pPr algn="l">
              <a:defRPr sz="1100" b="1" i="0">
                <a:solidFill>
                  <a:srgbClr val="0A192F"/>
                </a:solidFill>
                <a:latin typeface="Trebuchet MS"/>
              </a:defRPr>
            </a:pPr>
            <a:r>
              <a:t>July–August spike</a:t>
            </a:r>
          </a:p>
        </p:txBody>
      </p:sp>
      <p:sp>
        <p:nvSpPr>
          <p:cNvPr id="38" name="TextBox 37"/>
          <p:cNvSpPr txBox="1"/>
          <p:nvPr/>
        </p:nvSpPr>
        <p:spPr>
          <a:xfrm>
            <a:off x="7772400" y="4434840"/>
            <a:ext cx="3840480" cy="594360"/>
          </a:xfrm>
          <a:prstGeom prst="rect">
            <a:avLst/>
          </a:prstGeom>
          <a:noFill/>
        </p:spPr>
        <p:txBody>
          <a:bodyPr wrap="square">
            <a:spAutoFit/>
          </a:bodyPr>
          <a:lstStyle/>
          <a:p>
            <a:pPr algn="l">
              <a:defRPr sz="1100" b="0" i="0">
                <a:solidFill>
                  <a:srgbClr val="4A5568"/>
                </a:solidFill>
                <a:latin typeface="Trebuchet MS"/>
              </a:defRPr>
            </a:pPr>
            <a:r>
              <a:rPr dirty="0"/>
              <a:t>Higher volume AND higher cancellation rates</a:t>
            </a:r>
          </a:p>
        </p:txBody>
      </p:sp>
      <p:sp>
        <p:nvSpPr>
          <p:cNvPr id="39" name="Rectangle 38"/>
          <p:cNvSpPr/>
          <p:nvPr/>
        </p:nvSpPr>
        <p:spPr>
          <a:xfrm>
            <a:off x="7589520" y="5212080"/>
            <a:ext cx="4206240" cy="1143000"/>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589520" y="5212080"/>
            <a:ext cx="73152" cy="1143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772400" y="5303520"/>
            <a:ext cx="3840480" cy="365760"/>
          </a:xfrm>
          <a:prstGeom prst="rect">
            <a:avLst/>
          </a:prstGeom>
          <a:noFill/>
        </p:spPr>
        <p:txBody>
          <a:bodyPr wrap="square">
            <a:spAutoFit/>
          </a:bodyPr>
          <a:lstStyle/>
          <a:p>
            <a:pPr algn="l">
              <a:defRPr sz="1100" b="1" i="0">
                <a:solidFill>
                  <a:srgbClr val="0A192F"/>
                </a:solidFill>
                <a:latin typeface="Trebuchet MS"/>
              </a:defRPr>
            </a:pPr>
            <a:r>
              <a:t>Actionable threshold</a:t>
            </a:r>
          </a:p>
        </p:txBody>
      </p:sp>
      <p:sp>
        <p:nvSpPr>
          <p:cNvPr id="42" name="TextBox 41"/>
          <p:cNvSpPr txBox="1"/>
          <p:nvPr/>
        </p:nvSpPr>
        <p:spPr>
          <a:xfrm>
            <a:off x="7772400" y="5669280"/>
            <a:ext cx="3840480" cy="594360"/>
          </a:xfrm>
          <a:prstGeom prst="rect">
            <a:avLst/>
          </a:prstGeom>
          <a:noFill/>
        </p:spPr>
        <p:txBody>
          <a:bodyPr wrap="square">
            <a:spAutoFit/>
          </a:bodyPr>
          <a:lstStyle/>
          <a:p>
            <a:pPr algn="l">
              <a:defRPr sz="1100" b="0" i="0">
                <a:solidFill>
                  <a:srgbClr val="4A5568"/>
                </a:solidFill>
                <a:latin typeface="Trebuchet MS"/>
              </a:defRPr>
            </a:pPr>
            <a:r>
              <a:t>90+ day lead time = trigger retention workflow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430000" cy="1005840"/>
          </a:xfrm>
          <a:prstGeom prst="rect">
            <a:avLst/>
          </a:prstGeom>
          <a:noFill/>
        </p:spPr>
        <p:txBody>
          <a:bodyPr wrap="square">
            <a:spAutoFit/>
          </a:bodyPr>
          <a:lstStyle/>
          <a:p>
            <a:pPr algn="l">
              <a:defRPr sz="1700" b="1" i="0">
                <a:solidFill>
                  <a:srgbClr val="FFFFFF"/>
                </a:solidFill>
                <a:latin typeface="Trebuchet MS"/>
              </a:defRPr>
            </a:pPr>
            <a:r>
              <a:t>MODEL RESULTS: CLASSIFIER &amp; REGRESSOR</a:t>
            </a:r>
          </a:p>
        </p:txBody>
      </p:sp>
      <p:sp>
        <p:nvSpPr>
          <p:cNvPr id="4" name="Rectangle 3"/>
          <p:cNvSpPr/>
          <p:nvPr/>
        </p:nvSpPr>
        <p:spPr>
          <a:xfrm>
            <a:off x="365760" y="1051560"/>
            <a:ext cx="5394960" cy="4572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051560"/>
            <a:ext cx="5394960" cy="457200"/>
          </a:xfrm>
          <a:prstGeom prst="rect">
            <a:avLst/>
          </a:prstGeom>
          <a:noFill/>
        </p:spPr>
        <p:txBody>
          <a:bodyPr wrap="square">
            <a:spAutoFit/>
          </a:bodyPr>
          <a:lstStyle/>
          <a:p>
            <a:pPr algn="ctr">
              <a:defRPr sz="1200" b="1" i="0">
                <a:solidFill>
                  <a:srgbClr val="FFFFFF"/>
                </a:solidFill>
                <a:latin typeface="Trebuchet MS"/>
              </a:defRPr>
            </a:pPr>
            <a:r>
              <a:t>CANCELLATION RISK CLASSIFIER</a:t>
            </a:r>
          </a:p>
        </p:txBody>
      </p:sp>
      <p:sp>
        <p:nvSpPr>
          <p:cNvPr id="6" name="Rectangle 5"/>
          <p:cNvSpPr/>
          <p:nvPr/>
        </p:nvSpPr>
        <p:spPr>
          <a:xfrm>
            <a:off x="365760" y="1645920"/>
            <a:ext cx="5394960" cy="1691640"/>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737360"/>
            <a:ext cx="5029200" cy="365760"/>
          </a:xfrm>
          <a:prstGeom prst="rect">
            <a:avLst/>
          </a:prstGeom>
          <a:noFill/>
        </p:spPr>
        <p:txBody>
          <a:bodyPr wrap="square">
            <a:spAutoFit/>
          </a:bodyPr>
          <a:lstStyle/>
          <a:p>
            <a:pPr algn="l">
              <a:defRPr sz="1300" b="0" i="0">
                <a:solidFill>
                  <a:srgbClr val="4A5568"/>
                </a:solidFill>
                <a:latin typeface="Trebuchet MS"/>
              </a:defRPr>
            </a:pPr>
            <a:r>
              <a:t>Logistic Regression</a:t>
            </a:r>
          </a:p>
        </p:txBody>
      </p:sp>
      <p:sp>
        <p:nvSpPr>
          <p:cNvPr id="8" name="TextBox 7"/>
          <p:cNvSpPr txBox="1"/>
          <p:nvPr/>
        </p:nvSpPr>
        <p:spPr>
          <a:xfrm>
            <a:off x="548640" y="2148840"/>
            <a:ext cx="2632710" cy="430887"/>
          </a:xfrm>
          <a:prstGeom prst="rect">
            <a:avLst/>
          </a:prstGeom>
          <a:noFill/>
        </p:spPr>
        <p:txBody>
          <a:bodyPr wrap="square">
            <a:spAutoFit/>
          </a:bodyPr>
          <a:lstStyle/>
          <a:p>
            <a:pPr algn="l">
              <a:defRPr sz="2200" b="1" i="0">
                <a:solidFill>
                  <a:srgbClr val="0A192F"/>
                </a:solidFill>
                <a:latin typeface="Trebuchet MS"/>
              </a:defRPr>
            </a:pPr>
            <a:r>
              <a:rPr dirty="0"/>
              <a:t>Accuracy: 73.</a:t>
            </a:r>
            <a:r>
              <a:rPr lang="en-US" dirty="0"/>
              <a:t>64</a:t>
            </a:r>
            <a:r>
              <a:rPr dirty="0"/>
              <a:t>%</a:t>
            </a:r>
          </a:p>
        </p:txBody>
      </p:sp>
      <p:sp>
        <p:nvSpPr>
          <p:cNvPr id="9" name="TextBox 8"/>
          <p:cNvSpPr txBox="1"/>
          <p:nvPr/>
        </p:nvSpPr>
        <p:spPr>
          <a:xfrm>
            <a:off x="3126105" y="2148840"/>
            <a:ext cx="2560320" cy="430887"/>
          </a:xfrm>
          <a:prstGeom prst="rect">
            <a:avLst/>
          </a:prstGeom>
          <a:noFill/>
        </p:spPr>
        <p:txBody>
          <a:bodyPr wrap="square">
            <a:spAutoFit/>
          </a:bodyPr>
          <a:lstStyle/>
          <a:p>
            <a:pPr algn="l">
              <a:defRPr sz="2200" b="1" i="0">
                <a:solidFill>
                  <a:srgbClr val="0A192F"/>
                </a:solidFill>
                <a:latin typeface="Trebuchet MS"/>
              </a:defRPr>
            </a:pPr>
            <a:r>
              <a:rPr dirty="0"/>
              <a:t>F1-Score: 0.62</a:t>
            </a:r>
            <a:r>
              <a:rPr lang="en-US" dirty="0"/>
              <a:t>4</a:t>
            </a:r>
            <a:endParaRPr dirty="0"/>
          </a:p>
        </p:txBody>
      </p:sp>
      <p:sp>
        <p:nvSpPr>
          <p:cNvPr id="10" name="TextBox 9"/>
          <p:cNvSpPr txBox="1"/>
          <p:nvPr/>
        </p:nvSpPr>
        <p:spPr>
          <a:xfrm>
            <a:off x="548640" y="2834640"/>
            <a:ext cx="5029200" cy="411480"/>
          </a:xfrm>
          <a:prstGeom prst="rect">
            <a:avLst/>
          </a:prstGeom>
          <a:noFill/>
        </p:spPr>
        <p:txBody>
          <a:bodyPr wrap="square">
            <a:spAutoFit/>
          </a:bodyPr>
          <a:lstStyle/>
          <a:p>
            <a:pPr algn="l">
              <a:defRPr sz="1000" b="0" i="1">
                <a:solidFill>
                  <a:srgbClr val="4A5568"/>
                </a:solidFill>
                <a:latin typeface="Trebuchet MS"/>
              </a:defRPr>
            </a:pPr>
            <a:r>
              <a:t>Linear baseline — weak recall on cancelled class</a:t>
            </a:r>
          </a:p>
        </p:txBody>
      </p:sp>
      <p:sp>
        <p:nvSpPr>
          <p:cNvPr id="11" name="Rectangle 10"/>
          <p:cNvSpPr/>
          <p:nvPr/>
        </p:nvSpPr>
        <p:spPr>
          <a:xfrm>
            <a:off x="365760" y="3566160"/>
            <a:ext cx="5394960" cy="1691640"/>
          </a:xfrm>
          <a:prstGeom prst="rect">
            <a:avLst/>
          </a:prstGeom>
          <a:solidFill>
            <a:srgbClr val="E6F8F6"/>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3566160"/>
            <a:ext cx="91440" cy="169164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3657600"/>
            <a:ext cx="5029200" cy="365760"/>
          </a:xfrm>
          <a:prstGeom prst="rect">
            <a:avLst/>
          </a:prstGeom>
          <a:noFill/>
        </p:spPr>
        <p:txBody>
          <a:bodyPr wrap="square">
            <a:spAutoFit/>
          </a:bodyPr>
          <a:lstStyle/>
          <a:p>
            <a:pPr algn="l">
              <a:defRPr sz="1300" b="1" i="0">
                <a:solidFill>
                  <a:srgbClr val="008080"/>
                </a:solidFill>
                <a:latin typeface="Trebuchet MS"/>
              </a:defRPr>
            </a:pPr>
            <a:r>
              <a:t>✓ Random Forest</a:t>
            </a:r>
          </a:p>
        </p:txBody>
      </p:sp>
      <p:sp>
        <p:nvSpPr>
          <p:cNvPr id="14" name="TextBox 13"/>
          <p:cNvSpPr txBox="1"/>
          <p:nvPr/>
        </p:nvSpPr>
        <p:spPr>
          <a:xfrm>
            <a:off x="548639" y="4069080"/>
            <a:ext cx="2560319" cy="430887"/>
          </a:xfrm>
          <a:prstGeom prst="rect">
            <a:avLst/>
          </a:prstGeom>
          <a:noFill/>
        </p:spPr>
        <p:txBody>
          <a:bodyPr wrap="square">
            <a:spAutoFit/>
          </a:bodyPr>
          <a:lstStyle/>
          <a:p>
            <a:pPr algn="l">
              <a:defRPr sz="2200" b="1" i="0">
                <a:solidFill>
                  <a:srgbClr val="0A192F"/>
                </a:solidFill>
                <a:latin typeface="Trebuchet MS"/>
              </a:defRPr>
            </a:pPr>
            <a:r>
              <a:rPr dirty="0"/>
              <a:t>Accuracy: 7</a:t>
            </a:r>
            <a:r>
              <a:rPr lang="en-US" dirty="0"/>
              <a:t>4</a:t>
            </a:r>
            <a:r>
              <a:rPr dirty="0"/>
              <a:t>.</a:t>
            </a:r>
            <a:r>
              <a:rPr lang="en-US" dirty="0"/>
              <a:t>14</a:t>
            </a:r>
            <a:r>
              <a:rPr dirty="0"/>
              <a:t>%</a:t>
            </a:r>
          </a:p>
        </p:txBody>
      </p:sp>
      <p:sp>
        <p:nvSpPr>
          <p:cNvPr id="15" name="TextBox 14"/>
          <p:cNvSpPr txBox="1"/>
          <p:nvPr/>
        </p:nvSpPr>
        <p:spPr>
          <a:xfrm>
            <a:off x="3097530" y="4069080"/>
            <a:ext cx="2560320" cy="430887"/>
          </a:xfrm>
          <a:prstGeom prst="rect">
            <a:avLst/>
          </a:prstGeom>
          <a:noFill/>
        </p:spPr>
        <p:txBody>
          <a:bodyPr wrap="square">
            <a:spAutoFit/>
          </a:bodyPr>
          <a:lstStyle/>
          <a:p>
            <a:pPr algn="l">
              <a:defRPr sz="2200" b="1" i="0">
                <a:solidFill>
                  <a:srgbClr val="0A192F"/>
                </a:solidFill>
                <a:latin typeface="Trebuchet MS"/>
              </a:defRPr>
            </a:pPr>
            <a:r>
              <a:rPr dirty="0"/>
              <a:t>F1-Score: 0.6</a:t>
            </a:r>
            <a:r>
              <a:rPr lang="en-US" dirty="0"/>
              <a:t>38</a:t>
            </a:r>
            <a:endParaRPr dirty="0"/>
          </a:p>
        </p:txBody>
      </p:sp>
      <p:sp>
        <p:nvSpPr>
          <p:cNvPr id="16" name="TextBox 15"/>
          <p:cNvSpPr txBox="1"/>
          <p:nvPr/>
        </p:nvSpPr>
        <p:spPr>
          <a:xfrm>
            <a:off x="548640" y="4754880"/>
            <a:ext cx="5029200" cy="246221"/>
          </a:xfrm>
          <a:prstGeom prst="rect">
            <a:avLst/>
          </a:prstGeom>
          <a:noFill/>
        </p:spPr>
        <p:txBody>
          <a:bodyPr wrap="square">
            <a:spAutoFit/>
          </a:bodyPr>
          <a:lstStyle/>
          <a:p>
            <a:pPr algn="l">
              <a:defRPr sz="1000" b="0" i="1">
                <a:solidFill>
                  <a:srgbClr val="008080"/>
                </a:solidFill>
                <a:latin typeface="Trebuchet MS"/>
              </a:defRPr>
            </a:pPr>
            <a:r>
              <a:rPr lang="en-US" dirty="0"/>
              <a:t>Improved</a:t>
            </a:r>
            <a:r>
              <a:rPr dirty="0"/>
              <a:t> F1</a:t>
            </a:r>
            <a:r>
              <a:rPr lang="en-US" dirty="0"/>
              <a:t> score</a:t>
            </a:r>
            <a:r>
              <a:rPr dirty="0"/>
              <a:t> — fewer undetected cancellations</a:t>
            </a:r>
          </a:p>
        </p:txBody>
      </p:sp>
      <p:sp>
        <p:nvSpPr>
          <p:cNvPr id="17" name="Rectangle 16"/>
          <p:cNvSpPr/>
          <p:nvPr/>
        </p:nvSpPr>
        <p:spPr>
          <a:xfrm>
            <a:off x="6400800" y="1051560"/>
            <a:ext cx="5394960" cy="4572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1051560"/>
            <a:ext cx="5394960" cy="457200"/>
          </a:xfrm>
          <a:prstGeom prst="rect">
            <a:avLst/>
          </a:prstGeom>
          <a:noFill/>
        </p:spPr>
        <p:txBody>
          <a:bodyPr wrap="square">
            <a:spAutoFit/>
          </a:bodyPr>
          <a:lstStyle/>
          <a:p>
            <a:pPr algn="ctr">
              <a:defRPr sz="1200" b="1" i="0">
                <a:solidFill>
                  <a:srgbClr val="FFFFFF"/>
                </a:solidFill>
                <a:latin typeface="Trebuchet MS"/>
              </a:defRPr>
            </a:pPr>
            <a:r>
              <a:t>LEAD TIME REGRESSOR</a:t>
            </a:r>
          </a:p>
        </p:txBody>
      </p:sp>
      <p:sp>
        <p:nvSpPr>
          <p:cNvPr id="19" name="Rectangle 18"/>
          <p:cNvSpPr/>
          <p:nvPr/>
        </p:nvSpPr>
        <p:spPr>
          <a:xfrm>
            <a:off x="6400800" y="1645920"/>
            <a:ext cx="5394960" cy="1691640"/>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0" y="1737360"/>
            <a:ext cx="5029200" cy="365760"/>
          </a:xfrm>
          <a:prstGeom prst="rect">
            <a:avLst/>
          </a:prstGeom>
          <a:noFill/>
        </p:spPr>
        <p:txBody>
          <a:bodyPr wrap="square">
            <a:spAutoFit/>
          </a:bodyPr>
          <a:lstStyle/>
          <a:p>
            <a:pPr algn="l">
              <a:defRPr sz="1300" b="0" i="0">
                <a:solidFill>
                  <a:srgbClr val="4A5568"/>
                </a:solidFill>
                <a:latin typeface="Trebuchet MS"/>
              </a:defRPr>
            </a:pPr>
            <a:r>
              <a:t>Ridge Regression</a:t>
            </a:r>
          </a:p>
        </p:txBody>
      </p:sp>
      <p:sp>
        <p:nvSpPr>
          <p:cNvPr id="21" name="TextBox 20"/>
          <p:cNvSpPr txBox="1"/>
          <p:nvPr/>
        </p:nvSpPr>
        <p:spPr>
          <a:xfrm>
            <a:off x="6583680" y="2148840"/>
            <a:ext cx="2560320" cy="430887"/>
          </a:xfrm>
          <a:prstGeom prst="rect">
            <a:avLst/>
          </a:prstGeom>
          <a:noFill/>
        </p:spPr>
        <p:txBody>
          <a:bodyPr wrap="square">
            <a:spAutoFit/>
          </a:bodyPr>
          <a:lstStyle/>
          <a:p>
            <a:pPr algn="l">
              <a:defRPr sz="2200" b="1" i="0">
                <a:solidFill>
                  <a:srgbClr val="0A192F"/>
                </a:solidFill>
                <a:latin typeface="Trebuchet MS"/>
              </a:defRPr>
            </a:pPr>
            <a:r>
              <a:rPr dirty="0"/>
              <a:t>MAE: </a:t>
            </a:r>
            <a:r>
              <a:rPr lang="en-US" dirty="0"/>
              <a:t>50.00</a:t>
            </a:r>
            <a:r>
              <a:rPr dirty="0"/>
              <a:t> days</a:t>
            </a:r>
          </a:p>
        </p:txBody>
      </p:sp>
      <p:sp>
        <p:nvSpPr>
          <p:cNvPr id="22" name="TextBox 21"/>
          <p:cNvSpPr txBox="1"/>
          <p:nvPr/>
        </p:nvSpPr>
        <p:spPr>
          <a:xfrm>
            <a:off x="9235440" y="2148840"/>
            <a:ext cx="2286000" cy="365760"/>
          </a:xfrm>
          <a:prstGeom prst="rect">
            <a:avLst/>
          </a:prstGeom>
          <a:noFill/>
        </p:spPr>
        <p:txBody>
          <a:bodyPr wrap="square">
            <a:spAutoFit/>
          </a:bodyPr>
          <a:lstStyle/>
          <a:p>
            <a:pPr algn="l">
              <a:defRPr sz="2200" b="1" i="0">
                <a:solidFill>
                  <a:srgbClr val="0A192F"/>
                </a:solidFill>
                <a:latin typeface="Trebuchet MS"/>
              </a:defRPr>
            </a:pPr>
            <a:r>
              <a:rPr dirty="0"/>
              <a:t>R²: 0.386</a:t>
            </a:r>
          </a:p>
        </p:txBody>
      </p:sp>
      <p:sp>
        <p:nvSpPr>
          <p:cNvPr id="23" name="TextBox 22"/>
          <p:cNvSpPr txBox="1"/>
          <p:nvPr/>
        </p:nvSpPr>
        <p:spPr>
          <a:xfrm>
            <a:off x="6583680" y="2834640"/>
            <a:ext cx="5029200" cy="411480"/>
          </a:xfrm>
          <a:prstGeom prst="rect">
            <a:avLst/>
          </a:prstGeom>
          <a:noFill/>
        </p:spPr>
        <p:txBody>
          <a:bodyPr wrap="square">
            <a:spAutoFit/>
          </a:bodyPr>
          <a:lstStyle/>
          <a:p>
            <a:pPr algn="l">
              <a:defRPr sz="1000" b="0" i="1">
                <a:solidFill>
                  <a:srgbClr val="4A5568"/>
                </a:solidFill>
                <a:latin typeface="Trebuchet MS"/>
              </a:defRPr>
            </a:pPr>
            <a:r>
              <a:t>Struggles with long lead-time tail, under-predicts</a:t>
            </a:r>
          </a:p>
        </p:txBody>
      </p:sp>
      <p:sp>
        <p:nvSpPr>
          <p:cNvPr id="24" name="Rectangle 23"/>
          <p:cNvSpPr/>
          <p:nvPr/>
        </p:nvSpPr>
        <p:spPr>
          <a:xfrm>
            <a:off x="6400800" y="3566160"/>
            <a:ext cx="5394960" cy="1691640"/>
          </a:xfrm>
          <a:prstGeom prst="rect">
            <a:avLst/>
          </a:prstGeom>
          <a:solidFill>
            <a:srgbClr val="E4E8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0" y="3566160"/>
            <a:ext cx="91440" cy="169164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0" y="3657600"/>
            <a:ext cx="5029200" cy="365760"/>
          </a:xfrm>
          <a:prstGeom prst="rect">
            <a:avLst/>
          </a:prstGeom>
          <a:noFill/>
        </p:spPr>
        <p:txBody>
          <a:bodyPr wrap="square">
            <a:spAutoFit/>
          </a:bodyPr>
          <a:lstStyle/>
          <a:p>
            <a:pPr algn="l">
              <a:defRPr sz="1300" b="1" i="0">
                <a:solidFill>
                  <a:srgbClr val="0A192F"/>
                </a:solidFill>
                <a:latin typeface="Trebuchet MS"/>
              </a:defRPr>
            </a:pPr>
            <a:r>
              <a:t>✓ Gradient Boosting</a:t>
            </a:r>
          </a:p>
        </p:txBody>
      </p:sp>
      <p:sp>
        <p:nvSpPr>
          <p:cNvPr id="27" name="TextBox 26"/>
          <p:cNvSpPr txBox="1"/>
          <p:nvPr/>
        </p:nvSpPr>
        <p:spPr>
          <a:xfrm>
            <a:off x="6583680" y="4069080"/>
            <a:ext cx="2560320" cy="430887"/>
          </a:xfrm>
          <a:prstGeom prst="rect">
            <a:avLst/>
          </a:prstGeom>
          <a:noFill/>
        </p:spPr>
        <p:txBody>
          <a:bodyPr wrap="square">
            <a:spAutoFit/>
          </a:bodyPr>
          <a:lstStyle/>
          <a:p>
            <a:pPr algn="l">
              <a:defRPr sz="2200" b="1" i="0">
                <a:solidFill>
                  <a:srgbClr val="0A192F"/>
                </a:solidFill>
                <a:latin typeface="Trebuchet MS"/>
              </a:defRPr>
            </a:pPr>
            <a:r>
              <a:rPr dirty="0"/>
              <a:t>MAE: 3</a:t>
            </a:r>
            <a:r>
              <a:rPr lang="en-US" dirty="0"/>
              <a:t>9</a:t>
            </a:r>
            <a:r>
              <a:rPr dirty="0"/>
              <a:t>.</a:t>
            </a:r>
            <a:r>
              <a:rPr lang="en-US" dirty="0"/>
              <a:t>36</a:t>
            </a:r>
            <a:r>
              <a:rPr dirty="0"/>
              <a:t> days</a:t>
            </a:r>
          </a:p>
        </p:txBody>
      </p:sp>
      <p:sp>
        <p:nvSpPr>
          <p:cNvPr id="28" name="TextBox 27"/>
          <p:cNvSpPr txBox="1"/>
          <p:nvPr/>
        </p:nvSpPr>
        <p:spPr>
          <a:xfrm>
            <a:off x="9235440" y="4069080"/>
            <a:ext cx="2286000" cy="430887"/>
          </a:xfrm>
          <a:prstGeom prst="rect">
            <a:avLst/>
          </a:prstGeom>
          <a:noFill/>
        </p:spPr>
        <p:txBody>
          <a:bodyPr wrap="square">
            <a:spAutoFit/>
          </a:bodyPr>
          <a:lstStyle/>
          <a:p>
            <a:pPr algn="l">
              <a:defRPr sz="2200" b="1" i="0">
                <a:solidFill>
                  <a:srgbClr val="0A192F"/>
                </a:solidFill>
                <a:latin typeface="Trebuchet MS"/>
              </a:defRPr>
            </a:pPr>
            <a:r>
              <a:rPr dirty="0"/>
              <a:t>R²: 0.</a:t>
            </a:r>
            <a:r>
              <a:rPr lang="en-US" dirty="0"/>
              <a:t>583</a:t>
            </a:r>
            <a:endParaRPr dirty="0"/>
          </a:p>
        </p:txBody>
      </p:sp>
      <p:sp>
        <p:nvSpPr>
          <p:cNvPr id="29" name="TextBox 28"/>
          <p:cNvSpPr txBox="1"/>
          <p:nvPr/>
        </p:nvSpPr>
        <p:spPr>
          <a:xfrm>
            <a:off x="6583680" y="4754880"/>
            <a:ext cx="5029200" cy="246221"/>
          </a:xfrm>
          <a:prstGeom prst="rect">
            <a:avLst/>
          </a:prstGeom>
          <a:noFill/>
        </p:spPr>
        <p:txBody>
          <a:bodyPr wrap="square">
            <a:spAutoFit/>
          </a:bodyPr>
          <a:lstStyle/>
          <a:p>
            <a:pPr algn="l">
              <a:defRPr sz="1000" b="0" i="1">
                <a:solidFill>
                  <a:srgbClr val="0A192F"/>
                </a:solidFill>
                <a:latin typeface="Trebuchet MS"/>
              </a:defRPr>
            </a:pPr>
            <a:r>
              <a:rPr dirty="0"/>
              <a:t>MAE −1</a:t>
            </a:r>
            <a:r>
              <a:rPr lang="en-US" dirty="0"/>
              <a:t>1</a:t>
            </a:r>
            <a:r>
              <a:rPr dirty="0"/>
              <a:t> days better, R²=0.</a:t>
            </a:r>
            <a:r>
              <a:rPr lang="en-US" dirty="0"/>
              <a:t>583</a:t>
            </a:r>
            <a:r>
              <a:rPr dirty="0"/>
              <a:t>, tighter residuals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704320" cy="1005840"/>
          </a:xfrm>
          <a:prstGeom prst="rect">
            <a:avLst/>
          </a:prstGeom>
          <a:noFill/>
        </p:spPr>
        <p:txBody>
          <a:bodyPr wrap="square">
            <a:spAutoFit/>
          </a:bodyPr>
          <a:lstStyle/>
          <a:p>
            <a:pPr algn="l">
              <a:defRPr sz="1500" b="1" i="0">
                <a:solidFill>
                  <a:srgbClr val="FFFFFF"/>
                </a:solidFill>
                <a:latin typeface="Trebuchet MS"/>
              </a:defRPr>
            </a:pPr>
            <a:r>
              <a:t>INTERPRETABILITY: WHAT THE MODELS ARE ACTUALLY DOING  (SHAP Analysis)</a:t>
            </a:r>
          </a:p>
        </p:txBody>
      </p:sp>
      <p:sp>
        <p:nvSpPr>
          <p:cNvPr id="4" name="Rectangle 3"/>
          <p:cNvSpPr/>
          <p:nvPr/>
        </p:nvSpPr>
        <p:spPr>
          <a:xfrm>
            <a:off x="365760" y="1051560"/>
            <a:ext cx="5394960" cy="41148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051560"/>
            <a:ext cx="5394960" cy="411480"/>
          </a:xfrm>
          <a:prstGeom prst="rect">
            <a:avLst/>
          </a:prstGeom>
          <a:noFill/>
        </p:spPr>
        <p:txBody>
          <a:bodyPr wrap="square">
            <a:spAutoFit/>
          </a:bodyPr>
          <a:lstStyle/>
          <a:p>
            <a:pPr algn="ctr">
              <a:defRPr sz="1200" b="1" i="0">
                <a:solidFill>
                  <a:srgbClr val="FFFFFF"/>
                </a:solidFill>
                <a:latin typeface="Trebuchet MS"/>
              </a:defRPr>
            </a:pPr>
            <a:r>
              <a:t>Cancellation Classifier — Top Drivers</a:t>
            </a:r>
          </a:p>
        </p:txBody>
      </p:sp>
      <p:sp>
        <p:nvSpPr>
          <p:cNvPr id="6" name="Rectangle 5"/>
          <p:cNvSpPr/>
          <p:nvPr/>
        </p:nvSpPr>
        <p:spPr>
          <a:xfrm>
            <a:off x="6400800" y="1051560"/>
            <a:ext cx="5394960" cy="4114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051560"/>
            <a:ext cx="5394960" cy="411480"/>
          </a:xfrm>
          <a:prstGeom prst="rect">
            <a:avLst/>
          </a:prstGeom>
          <a:noFill/>
        </p:spPr>
        <p:txBody>
          <a:bodyPr wrap="square">
            <a:spAutoFit/>
          </a:bodyPr>
          <a:lstStyle/>
          <a:p>
            <a:pPr algn="ctr">
              <a:defRPr sz="1200" b="1" i="0">
                <a:solidFill>
                  <a:srgbClr val="FFFFFF"/>
                </a:solidFill>
                <a:latin typeface="Trebuchet MS"/>
              </a:defRPr>
            </a:pPr>
            <a:r>
              <a:t>Lead Time Regressor — Top Drivers</a:t>
            </a:r>
          </a:p>
        </p:txBody>
      </p:sp>
      <p:sp>
        <p:nvSpPr>
          <p:cNvPr id="8" name="Rectangle 7"/>
          <p:cNvSpPr/>
          <p:nvPr/>
        </p:nvSpPr>
        <p:spPr>
          <a:xfrm>
            <a:off x="365760" y="1554480"/>
            <a:ext cx="5394960" cy="822960"/>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554480"/>
            <a:ext cx="73152" cy="8229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600200"/>
            <a:ext cx="822960" cy="274320"/>
          </a:xfrm>
          <a:prstGeom prst="rect">
            <a:avLst/>
          </a:prstGeom>
          <a:noFill/>
        </p:spPr>
        <p:txBody>
          <a:bodyPr wrap="square">
            <a:spAutoFit/>
          </a:bodyPr>
          <a:lstStyle/>
          <a:p>
            <a:pPr algn="l">
              <a:defRPr sz="900" b="1" i="0">
                <a:solidFill>
                  <a:srgbClr val="C0392B"/>
                </a:solidFill>
                <a:latin typeface="Trebuchet MS"/>
              </a:defRPr>
            </a:pPr>
            <a:r>
              <a:t>↑ RISK</a:t>
            </a:r>
          </a:p>
        </p:txBody>
      </p:sp>
      <p:sp>
        <p:nvSpPr>
          <p:cNvPr id="11" name="TextBox 10"/>
          <p:cNvSpPr txBox="1"/>
          <p:nvPr/>
        </p:nvSpPr>
        <p:spPr>
          <a:xfrm>
            <a:off x="502920" y="1847088"/>
            <a:ext cx="4663440" cy="274320"/>
          </a:xfrm>
          <a:prstGeom prst="rect">
            <a:avLst/>
          </a:prstGeom>
          <a:noFill/>
        </p:spPr>
        <p:txBody>
          <a:bodyPr wrap="square">
            <a:spAutoFit/>
          </a:bodyPr>
          <a:lstStyle/>
          <a:p>
            <a:pPr algn="l">
              <a:defRPr sz="1200" b="1" i="0">
                <a:solidFill>
                  <a:srgbClr val="0A192F"/>
                </a:solidFill>
                <a:latin typeface="Trebuchet MS"/>
              </a:defRPr>
            </a:pPr>
            <a:r>
              <a:t>No deposit at booking</a:t>
            </a:r>
          </a:p>
        </p:txBody>
      </p:sp>
      <p:sp>
        <p:nvSpPr>
          <p:cNvPr id="12" name="TextBox 11"/>
          <p:cNvSpPr txBox="1"/>
          <p:nvPr/>
        </p:nvSpPr>
        <p:spPr>
          <a:xfrm>
            <a:off x="502920" y="2103120"/>
            <a:ext cx="4663440" cy="256032"/>
          </a:xfrm>
          <a:prstGeom prst="rect">
            <a:avLst/>
          </a:prstGeom>
          <a:noFill/>
        </p:spPr>
        <p:txBody>
          <a:bodyPr wrap="square">
            <a:spAutoFit/>
          </a:bodyPr>
          <a:lstStyle/>
          <a:p>
            <a:pPr algn="l">
              <a:defRPr sz="1000" b="0" i="0">
                <a:solidFill>
                  <a:srgbClr val="4A5568"/>
                </a:solidFill>
                <a:latin typeface="Trebuchet MS"/>
              </a:defRPr>
            </a:pPr>
            <a:r>
              <a:t>Largest positive SHAP — pushes risk score way up</a:t>
            </a:r>
          </a:p>
        </p:txBody>
      </p:sp>
      <p:sp>
        <p:nvSpPr>
          <p:cNvPr id="13" name="Rectangle 12"/>
          <p:cNvSpPr/>
          <p:nvPr/>
        </p:nvSpPr>
        <p:spPr>
          <a:xfrm>
            <a:off x="365760" y="2468880"/>
            <a:ext cx="5394960" cy="822960"/>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5760" y="2468880"/>
            <a:ext cx="73152" cy="822960"/>
          </a:xfrm>
          <a:prstGeom prst="rect">
            <a:avLst/>
          </a:prstGeom>
          <a:solidFill>
            <a:srgbClr val="B4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514600"/>
            <a:ext cx="822960" cy="274320"/>
          </a:xfrm>
          <a:prstGeom prst="rect">
            <a:avLst/>
          </a:prstGeom>
          <a:noFill/>
        </p:spPr>
        <p:txBody>
          <a:bodyPr wrap="square">
            <a:spAutoFit/>
          </a:bodyPr>
          <a:lstStyle/>
          <a:p>
            <a:pPr algn="l">
              <a:defRPr sz="900" b="1" i="0">
                <a:solidFill>
                  <a:srgbClr val="B43C3C"/>
                </a:solidFill>
                <a:latin typeface="Trebuchet MS"/>
              </a:defRPr>
            </a:pPr>
            <a:r>
              <a:t>↑ RISK</a:t>
            </a:r>
          </a:p>
        </p:txBody>
      </p:sp>
      <p:sp>
        <p:nvSpPr>
          <p:cNvPr id="16" name="TextBox 15"/>
          <p:cNvSpPr txBox="1"/>
          <p:nvPr/>
        </p:nvSpPr>
        <p:spPr>
          <a:xfrm>
            <a:off x="502920" y="2761488"/>
            <a:ext cx="4663440" cy="274320"/>
          </a:xfrm>
          <a:prstGeom prst="rect">
            <a:avLst/>
          </a:prstGeom>
          <a:noFill/>
        </p:spPr>
        <p:txBody>
          <a:bodyPr wrap="square">
            <a:spAutoFit/>
          </a:bodyPr>
          <a:lstStyle/>
          <a:p>
            <a:pPr algn="l">
              <a:defRPr sz="1200" b="1" i="0">
                <a:solidFill>
                  <a:srgbClr val="0A192F"/>
                </a:solidFill>
                <a:latin typeface="Trebuchet MS"/>
              </a:defRPr>
            </a:pPr>
            <a:r>
              <a:t>Online TA market segment</a:t>
            </a:r>
          </a:p>
        </p:txBody>
      </p:sp>
      <p:sp>
        <p:nvSpPr>
          <p:cNvPr id="17" name="TextBox 16"/>
          <p:cNvSpPr txBox="1"/>
          <p:nvPr/>
        </p:nvSpPr>
        <p:spPr>
          <a:xfrm>
            <a:off x="502920" y="3017520"/>
            <a:ext cx="4663440" cy="256032"/>
          </a:xfrm>
          <a:prstGeom prst="rect">
            <a:avLst/>
          </a:prstGeom>
          <a:noFill/>
        </p:spPr>
        <p:txBody>
          <a:bodyPr wrap="square">
            <a:spAutoFit/>
          </a:bodyPr>
          <a:lstStyle/>
          <a:p>
            <a:pPr algn="l">
              <a:defRPr sz="1000" b="0" i="0">
                <a:solidFill>
                  <a:srgbClr val="4A5568"/>
                </a:solidFill>
                <a:latin typeface="Trebuchet MS"/>
              </a:defRPr>
            </a:pPr>
            <a:r>
              <a:t>Consistent positive contribution across all bookings</a:t>
            </a:r>
          </a:p>
        </p:txBody>
      </p:sp>
      <p:sp>
        <p:nvSpPr>
          <p:cNvPr id="18" name="Rectangle 17"/>
          <p:cNvSpPr/>
          <p:nvPr/>
        </p:nvSpPr>
        <p:spPr>
          <a:xfrm>
            <a:off x="365760" y="3383280"/>
            <a:ext cx="5394960" cy="822960"/>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3383280"/>
            <a:ext cx="73152" cy="822960"/>
          </a:xfrm>
          <a:prstGeom prst="rect">
            <a:avLst/>
          </a:prstGeom>
          <a:solidFill>
            <a:srgbClr val="C86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3429000"/>
            <a:ext cx="822960" cy="274320"/>
          </a:xfrm>
          <a:prstGeom prst="rect">
            <a:avLst/>
          </a:prstGeom>
          <a:noFill/>
        </p:spPr>
        <p:txBody>
          <a:bodyPr wrap="square">
            <a:spAutoFit/>
          </a:bodyPr>
          <a:lstStyle/>
          <a:p>
            <a:pPr algn="l">
              <a:defRPr sz="900" b="1" i="0">
                <a:solidFill>
                  <a:srgbClr val="C8643C"/>
                </a:solidFill>
                <a:latin typeface="Trebuchet MS"/>
              </a:defRPr>
            </a:pPr>
            <a:r>
              <a:t>↑ RISK</a:t>
            </a:r>
          </a:p>
        </p:txBody>
      </p:sp>
      <p:sp>
        <p:nvSpPr>
          <p:cNvPr id="21" name="TextBox 20"/>
          <p:cNvSpPr txBox="1"/>
          <p:nvPr/>
        </p:nvSpPr>
        <p:spPr>
          <a:xfrm>
            <a:off x="502920" y="3675888"/>
            <a:ext cx="4663440" cy="274320"/>
          </a:xfrm>
          <a:prstGeom prst="rect">
            <a:avLst/>
          </a:prstGeom>
          <a:noFill/>
        </p:spPr>
        <p:txBody>
          <a:bodyPr wrap="square">
            <a:spAutoFit/>
          </a:bodyPr>
          <a:lstStyle/>
          <a:p>
            <a:pPr algn="l">
              <a:defRPr sz="1200" b="1" i="0">
                <a:solidFill>
                  <a:srgbClr val="0A192F"/>
                </a:solidFill>
                <a:latin typeface="Trebuchet MS"/>
              </a:defRPr>
            </a:pPr>
            <a:r>
              <a:t>Very short stays (1 night)</a:t>
            </a:r>
          </a:p>
        </p:txBody>
      </p:sp>
      <p:sp>
        <p:nvSpPr>
          <p:cNvPr id="22" name="TextBox 21"/>
          <p:cNvSpPr txBox="1"/>
          <p:nvPr/>
        </p:nvSpPr>
        <p:spPr>
          <a:xfrm>
            <a:off x="502920" y="3931920"/>
            <a:ext cx="4663440" cy="256032"/>
          </a:xfrm>
          <a:prstGeom prst="rect">
            <a:avLst/>
          </a:prstGeom>
          <a:noFill/>
        </p:spPr>
        <p:txBody>
          <a:bodyPr wrap="square">
            <a:spAutoFit/>
          </a:bodyPr>
          <a:lstStyle/>
          <a:p>
            <a:pPr algn="l">
              <a:defRPr sz="1000" b="0" i="0">
                <a:solidFill>
                  <a:srgbClr val="4A5568"/>
                </a:solidFill>
                <a:latin typeface="Trebuchet MS"/>
              </a:defRPr>
            </a:pPr>
            <a:r>
              <a:t>Brief stays signal low commitment</a:t>
            </a:r>
          </a:p>
        </p:txBody>
      </p:sp>
      <p:sp>
        <p:nvSpPr>
          <p:cNvPr id="23" name="Rectangle 22"/>
          <p:cNvSpPr/>
          <p:nvPr/>
        </p:nvSpPr>
        <p:spPr>
          <a:xfrm>
            <a:off x="365760" y="4297680"/>
            <a:ext cx="5394960" cy="822960"/>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5760" y="4297680"/>
            <a:ext cx="73152"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4343400"/>
            <a:ext cx="822960" cy="274320"/>
          </a:xfrm>
          <a:prstGeom prst="rect">
            <a:avLst/>
          </a:prstGeom>
          <a:noFill/>
        </p:spPr>
        <p:txBody>
          <a:bodyPr wrap="square">
            <a:spAutoFit/>
          </a:bodyPr>
          <a:lstStyle/>
          <a:p>
            <a:pPr algn="l">
              <a:defRPr sz="900" b="1" i="0">
                <a:solidFill>
                  <a:srgbClr val="27AE60"/>
                </a:solidFill>
                <a:latin typeface="Trebuchet MS"/>
              </a:defRPr>
            </a:pPr>
            <a:r>
              <a:t>↓ RISK</a:t>
            </a:r>
          </a:p>
        </p:txBody>
      </p:sp>
      <p:sp>
        <p:nvSpPr>
          <p:cNvPr id="26" name="TextBox 25"/>
          <p:cNvSpPr txBox="1"/>
          <p:nvPr/>
        </p:nvSpPr>
        <p:spPr>
          <a:xfrm>
            <a:off x="502920" y="4590288"/>
            <a:ext cx="4663440" cy="274320"/>
          </a:xfrm>
          <a:prstGeom prst="rect">
            <a:avLst/>
          </a:prstGeom>
          <a:noFill/>
        </p:spPr>
        <p:txBody>
          <a:bodyPr wrap="square">
            <a:spAutoFit/>
          </a:bodyPr>
          <a:lstStyle/>
          <a:p>
            <a:pPr algn="l">
              <a:defRPr sz="1200" b="1" i="0">
                <a:solidFill>
                  <a:srgbClr val="0A192F"/>
                </a:solidFill>
                <a:latin typeface="Trebuchet MS"/>
              </a:defRPr>
            </a:pPr>
            <a:r>
              <a:t>Non-refundable deposit</a:t>
            </a:r>
          </a:p>
        </p:txBody>
      </p:sp>
      <p:sp>
        <p:nvSpPr>
          <p:cNvPr id="27" name="TextBox 26"/>
          <p:cNvSpPr txBox="1"/>
          <p:nvPr/>
        </p:nvSpPr>
        <p:spPr>
          <a:xfrm>
            <a:off x="502920" y="4846320"/>
            <a:ext cx="4663440" cy="256032"/>
          </a:xfrm>
          <a:prstGeom prst="rect">
            <a:avLst/>
          </a:prstGeom>
          <a:noFill/>
        </p:spPr>
        <p:txBody>
          <a:bodyPr wrap="square">
            <a:spAutoFit/>
          </a:bodyPr>
          <a:lstStyle/>
          <a:p>
            <a:pPr algn="l">
              <a:defRPr sz="1000" b="0" i="0">
                <a:solidFill>
                  <a:srgbClr val="4A5568"/>
                </a:solidFill>
                <a:latin typeface="Trebuchet MS"/>
              </a:defRPr>
            </a:pPr>
            <a:r>
              <a:t>Sharp negative SHAP — strongest risk reducer</a:t>
            </a:r>
          </a:p>
        </p:txBody>
      </p:sp>
      <p:sp>
        <p:nvSpPr>
          <p:cNvPr id="28" name="Rectangle 27"/>
          <p:cNvSpPr/>
          <p:nvPr/>
        </p:nvSpPr>
        <p:spPr>
          <a:xfrm>
            <a:off x="365760" y="5212080"/>
            <a:ext cx="5394960" cy="822960"/>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65760" y="5212080"/>
            <a:ext cx="73152" cy="822960"/>
          </a:xfrm>
          <a:prstGeom prst="rect">
            <a:avLst/>
          </a:prstGeom>
          <a:solidFill>
            <a:srgbClr val="2782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 y="5257800"/>
            <a:ext cx="822960" cy="274320"/>
          </a:xfrm>
          <a:prstGeom prst="rect">
            <a:avLst/>
          </a:prstGeom>
          <a:noFill/>
        </p:spPr>
        <p:txBody>
          <a:bodyPr wrap="square">
            <a:spAutoFit/>
          </a:bodyPr>
          <a:lstStyle/>
          <a:p>
            <a:pPr algn="l">
              <a:defRPr sz="900" b="1" i="0">
                <a:solidFill>
                  <a:srgbClr val="278260"/>
                </a:solidFill>
                <a:latin typeface="Trebuchet MS"/>
              </a:defRPr>
            </a:pPr>
            <a:r>
              <a:t>↓ RISK</a:t>
            </a:r>
          </a:p>
        </p:txBody>
      </p:sp>
      <p:sp>
        <p:nvSpPr>
          <p:cNvPr id="31" name="TextBox 30"/>
          <p:cNvSpPr txBox="1"/>
          <p:nvPr/>
        </p:nvSpPr>
        <p:spPr>
          <a:xfrm>
            <a:off x="502920" y="5504688"/>
            <a:ext cx="4663440" cy="274320"/>
          </a:xfrm>
          <a:prstGeom prst="rect">
            <a:avLst/>
          </a:prstGeom>
          <a:noFill/>
        </p:spPr>
        <p:txBody>
          <a:bodyPr wrap="square">
            <a:spAutoFit/>
          </a:bodyPr>
          <a:lstStyle/>
          <a:p>
            <a:pPr algn="l">
              <a:defRPr sz="1200" b="1" i="0">
                <a:solidFill>
                  <a:srgbClr val="0A192F"/>
                </a:solidFill>
                <a:latin typeface="Trebuchet MS"/>
              </a:defRPr>
            </a:pPr>
            <a:r>
              <a:t>Longer stays</a:t>
            </a:r>
          </a:p>
        </p:txBody>
      </p:sp>
      <p:sp>
        <p:nvSpPr>
          <p:cNvPr id="32" name="TextBox 31"/>
          <p:cNvSpPr txBox="1"/>
          <p:nvPr/>
        </p:nvSpPr>
        <p:spPr>
          <a:xfrm>
            <a:off x="502920" y="5760720"/>
            <a:ext cx="4663440" cy="256032"/>
          </a:xfrm>
          <a:prstGeom prst="rect">
            <a:avLst/>
          </a:prstGeom>
          <a:noFill/>
        </p:spPr>
        <p:txBody>
          <a:bodyPr wrap="square">
            <a:spAutoFit/>
          </a:bodyPr>
          <a:lstStyle/>
          <a:p>
            <a:pPr algn="l">
              <a:defRPr sz="1000" b="0" i="0">
                <a:solidFill>
                  <a:srgbClr val="4A5568"/>
                </a:solidFill>
                <a:latin typeface="Trebuchet MS"/>
              </a:defRPr>
            </a:pPr>
            <a:r>
              <a:t>Extended stays correlate with higher commitment</a:t>
            </a:r>
          </a:p>
        </p:txBody>
      </p:sp>
      <p:sp>
        <p:nvSpPr>
          <p:cNvPr id="33" name="Rectangle 32"/>
          <p:cNvSpPr/>
          <p:nvPr/>
        </p:nvSpPr>
        <p:spPr>
          <a:xfrm>
            <a:off x="6400800" y="1554480"/>
            <a:ext cx="5394960" cy="822960"/>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400800" y="1554480"/>
            <a:ext cx="73152" cy="82296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37960" y="1600200"/>
            <a:ext cx="914400" cy="274320"/>
          </a:xfrm>
          <a:prstGeom prst="rect">
            <a:avLst/>
          </a:prstGeom>
          <a:noFill/>
        </p:spPr>
        <p:txBody>
          <a:bodyPr wrap="square">
            <a:spAutoFit/>
          </a:bodyPr>
          <a:lstStyle/>
          <a:p>
            <a:pPr algn="l">
              <a:defRPr sz="900" b="1" i="0">
                <a:solidFill>
                  <a:srgbClr val="0A192F"/>
                </a:solidFill>
                <a:latin typeface="Trebuchet MS"/>
              </a:defRPr>
            </a:pPr>
            <a:r>
              <a:t>LONGER</a:t>
            </a:r>
          </a:p>
        </p:txBody>
      </p:sp>
      <p:sp>
        <p:nvSpPr>
          <p:cNvPr id="36" name="TextBox 35"/>
          <p:cNvSpPr txBox="1"/>
          <p:nvPr/>
        </p:nvSpPr>
        <p:spPr>
          <a:xfrm>
            <a:off x="6537960" y="1847088"/>
            <a:ext cx="4663440" cy="274320"/>
          </a:xfrm>
          <a:prstGeom prst="rect">
            <a:avLst/>
          </a:prstGeom>
          <a:noFill/>
        </p:spPr>
        <p:txBody>
          <a:bodyPr wrap="square">
            <a:spAutoFit/>
          </a:bodyPr>
          <a:lstStyle/>
          <a:p>
            <a:pPr algn="l">
              <a:defRPr sz="1200" b="1" i="0">
                <a:solidFill>
                  <a:srgbClr val="0A192F"/>
                </a:solidFill>
                <a:latin typeface="Trebuchet MS"/>
              </a:defRPr>
            </a:pPr>
            <a:r>
              <a:rPr dirty="0"/>
              <a:t>Online TA segment</a:t>
            </a:r>
          </a:p>
        </p:txBody>
      </p:sp>
      <p:sp>
        <p:nvSpPr>
          <p:cNvPr id="37" name="TextBox 36"/>
          <p:cNvSpPr txBox="1"/>
          <p:nvPr/>
        </p:nvSpPr>
        <p:spPr>
          <a:xfrm>
            <a:off x="6537960" y="2103120"/>
            <a:ext cx="4663440" cy="256032"/>
          </a:xfrm>
          <a:prstGeom prst="rect">
            <a:avLst/>
          </a:prstGeom>
          <a:noFill/>
        </p:spPr>
        <p:txBody>
          <a:bodyPr wrap="square">
            <a:spAutoFit/>
          </a:bodyPr>
          <a:lstStyle/>
          <a:p>
            <a:pPr algn="l">
              <a:defRPr sz="1000" b="0" i="0">
                <a:solidFill>
                  <a:srgbClr val="4A5568"/>
                </a:solidFill>
                <a:latin typeface="Trebuchet MS"/>
              </a:defRPr>
            </a:pPr>
            <a:r>
              <a:t>Books furthest in advance — wide lead time distribution</a:t>
            </a:r>
          </a:p>
        </p:txBody>
      </p:sp>
      <p:sp>
        <p:nvSpPr>
          <p:cNvPr id="38" name="Rectangle 37"/>
          <p:cNvSpPr/>
          <p:nvPr/>
        </p:nvSpPr>
        <p:spPr>
          <a:xfrm>
            <a:off x="6400800" y="2468880"/>
            <a:ext cx="5394960" cy="822960"/>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400800" y="2468880"/>
            <a:ext cx="73152" cy="82296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537960" y="2514600"/>
            <a:ext cx="914400" cy="274320"/>
          </a:xfrm>
          <a:prstGeom prst="rect">
            <a:avLst/>
          </a:prstGeom>
          <a:noFill/>
        </p:spPr>
        <p:txBody>
          <a:bodyPr wrap="square">
            <a:spAutoFit/>
          </a:bodyPr>
          <a:lstStyle/>
          <a:p>
            <a:pPr algn="l">
              <a:defRPr sz="900" b="1" i="0">
                <a:solidFill>
                  <a:srgbClr val="008080"/>
                </a:solidFill>
                <a:latin typeface="Trebuchet MS"/>
              </a:defRPr>
            </a:pPr>
            <a:r>
              <a:t>SHORTER</a:t>
            </a:r>
          </a:p>
        </p:txBody>
      </p:sp>
      <p:sp>
        <p:nvSpPr>
          <p:cNvPr id="41" name="TextBox 40"/>
          <p:cNvSpPr txBox="1"/>
          <p:nvPr/>
        </p:nvSpPr>
        <p:spPr>
          <a:xfrm>
            <a:off x="6537960" y="2761488"/>
            <a:ext cx="4663440" cy="274320"/>
          </a:xfrm>
          <a:prstGeom prst="rect">
            <a:avLst/>
          </a:prstGeom>
          <a:noFill/>
        </p:spPr>
        <p:txBody>
          <a:bodyPr wrap="square">
            <a:spAutoFit/>
          </a:bodyPr>
          <a:lstStyle/>
          <a:p>
            <a:pPr algn="l">
              <a:defRPr sz="1200" b="1" i="0">
                <a:solidFill>
                  <a:srgbClr val="0A192F"/>
                </a:solidFill>
                <a:latin typeface="Trebuchet MS"/>
              </a:defRPr>
            </a:pPr>
            <a:r>
              <a:t>Non-refundable deposit</a:t>
            </a:r>
          </a:p>
        </p:txBody>
      </p:sp>
      <p:sp>
        <p:nvSpPr>
          <p:cNvPr id="42" name="TextBox 41"/>
          <p:cNvSpPr txBox="1"/>
          <p:nvPr/>
        </p:nvSpPr>
        <p:spPr>
          <a:xfrm>
            <a:off x="6537960" y="3017520"/>
            <a:ext cx="4663440" cy="256032"/>
          </a:xfrm>
          <a:prstGeom prst="rect">
            <a:avLst/>
          </a:prstGeom>
          <a:noFill/>
        </p:spPr>
        <p:txBody>
          <a:bodyPr wrap="square">
            <a:spAutoFit/>
          </a:bodyPr>
          <a:lstStyle/>
          <a:p>
            <a:pPr algn="l">
              <a:defRPr sz="1000" b="0" i="0">
                <a:solidFill>
                  <a:srgbClr val="4A5568"/>
                </a:solidFill>
                <a:latin typeface="Trebuchet MS"/>
              </a:defRPr>
            </a:pPr>
            <a:r>
              <a:t>These bookings cluster close to arrival date</a:t>
            </a:r>
          </a:p>
        </p:txBody>
      </p:sp>
      <p:sp>
        <p:nvSpPr>
          <p:cNvPr id="43" name="Rectangle 42"/>
          <p:cNvSpPr/>
          <p:nvPr/>
        </p:nvSpPr>
        <p:spPr>
          <a:xfrm>
            <a:off x="6400800" y="3383280"/>
            <a:ext cx="5394960" cy="822960"/>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400800" y="3383280"/>
            <a:ext cx="73152" cy="82296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537960" y="3429000"/>
            <a:ext cx="914400" cy="274320"/>
          </a:xfrm>
          <a:prstGeom prst="rect">
            <a:avLst/>
          </a:prstGeom>
          <a:noFill/>
        </p:spPr>
        <p:txBody>
          <a:bodyPr wrap="square">
            <a:spAutoFit/>
          </a:bodyPr>
          <a:lstStyle/>
          <a:p>
            <a:pPr algn="l">
              <a:defRPr sz="900" b="1" i="0">
                <a:solidFill>
                  <a:srgbClr val="4A5568"/>
                </a:solidFill>
                <a:latin typeface="Trebuchet MS"/>
              </a:defRPr>
            </a:pPr>
            <a:r>
              <a:t>VARIES</a:t>
            </a:r>
          </a:p>
        </p:txBody>
      </p:sp>
      <p:sp>
        <p:nvSpPr>
          <p:cNvPr id="46" name="TextBox 45"/>
          <p:cNvSpPr txBox="1"/>
          <p:nvPr/>
        </p:nvSpPr>
        <p:spPr>
          <a:xfrm>
            <a:off x="6537960" y="3675888"/>
            <a:ext cx="4663440" cy="274320"/>
          </a:xfrm>
          <a:prstGeom prst="rect">
            <a:avLst/>
          </a:prstGeom>
          <a:noFill/>
        </p:spPr>
        <p:txBody>
          <a:bodyPr wrap="square">
            <a:spAutoFit/>
          </a:bodyPr>
          <a:lstStyle/>
          <a:p>
            <a:pPr algn="l">
              <a:defRPr sz="1200" b="1" i="0">
                <a:solidFill>
                  <a:srgbClr val="0A192F"/>
                </a:solidFill>
                <a:latin typeface="Trebuchet MS"/>
              </a:defRPr>
            </a:pPr>
            <a:r>
              <a:t>City vs Resort hotel type</a:t>
            </a:r>
          </a:p>
        </p:txBody>
      </p:sp>
      <p:sp>
        <p:nvSpPr>
          <p:cNvPr id="47" name="TextBox 46"/>
          <p:cNvSpPr txBox="1"/>
          <p:nvPr/>
        </p:nvSpPr>
        <p:spPr>
          <a:xfrm>
            <a:off x="6537960" y="3931920"/>
            <a:ext cx="4663440" cy="256032"/>
          </a:xfrm>
          <a:prstGeom prst="rect">
            <a:avLst/>
          </a:prstGeom>
          <a:noFill/>
        </p:spPr>
        <p:txBody>
          <a:bodyPr wrap="square">
            <a:spAutoFit/>
          </a:bodyPr>
          <a:lstStyle/>
          <a:p>
            <a:pPr algn="l">
              <a:defRPr sz="1000" b="0" i="0">
                <a:solidFill>
                  <a:srgbClr val="4A5568"/>
                </a:solidFill>
                <a:latin typeface="Trebuchet MS"/>
              </a:defRPr>
            </a:pPr>
            <a:r>
              <a:t>Systematic booking window differences by property</a:t>
            </a:r>
          </a:p>
        </p:txBody>
      </p:sp>
      <p:sp>
        <p:nvSpPr>
          <p:cNvPr id="48" name="Rectangle 47"/>
          <p:cNvSpPr/>
          <p:nvPr/>
        </p:nvSpPr>
        <p:spPr>
          <a:xfrm>
            <a:off x="6400800" y="4297680"/>
            <a:ext cx="5394960" cy="822960"/>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400800" y="4297680"/>
            <a:ext cx="73152" cy="822960"/>
          </a:xfrm>
          <a:prstGeom prst="rect">
            <a:avLst/>
          </a:prstGeom>
          <a:solidFill>
            <a:srgbClr val="965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37960" y="4343400"/>
            <a:ext cx="914400" cy="274320"/>
          </a:xfrm>
          <a:prstGeom prst="rect">
            <a:avLst/>
          </a:prstGeom>
          <a:noFill/>
        </p:spPr>
        <p:txBody>
          <a:bodyPr wrap="square">
            <a:spAutoFit/>
          </a:bodyPr>
          <a:lstStyle/>
          <a:p>
            <a:pPr algn="l">
              <a:defRPr sz="900" b="1" i="0">
                <a:solidFill>
                  <a:srgbClr val="9650B4"/>
                </a:solidFill>
                <a:latin typeface="Trebuchet MS"/>
              </a:defRPr>
            </a:pPr>
            <a:r>
              <a:t>ACTION</a:t>
            </a:r>
          </a:p>
        </p:txBody>
      </p:sp>
      <p:sp>
        <p:nvSpPr>
          <p:cNvPr id="51" name="TextBox 50"/>
          <p:cNvSpPr txBox="1"/>
          <p:nvPr/>
        </p:nvSpPr>
        <p:spPr>
          <a:xfrm>
            <a:off x="6537960" y="4590288"/>
            <a:ext cx="4663440" cy="274320"/>
          </a:xfrm>
          <a:prstGeom prst="rect">
            <a:avLst/>
          </a:prstGeom>
          <a:noFill/>
        </p:spPr>
        <p:txBody>
          <a:bodyPr wrap="square">
            <a:spAutoFit/>
          </a:bodyPr>
          <a:lstStyle/>
          <a:p>
            <a:pPr algn="l">
              <a:defRPr sz="1200" b="1" i="0">
                <a:solidFill>
                  <a:srgbClr val="0A192F"/>
                </a:solidFill>
                <a:latin typeface="Trebuchet MS"/>
              </a:defRPr>
            </a:pPr>
            <a:r>
              <a:rPr dirty="0"/>
              <a:t>90+ day lead time</a:t>
            </a:r>
          </a:p>
        </p:txBody>
      </p:sp>
      <p:sp>
        <p:nvSpPr>
          <p:cNvPr id="52" name="TextBox 51"/>
          <p:cNvSpPr txBox="1"/>
          <p:nvPr/>
        </p:nvSpPr>
        <p:spPr>
          <a:xfrm>
            <a:off x="6537960" y="4846320"/>
            <a:ext cx="4663440" cy="256032"/>
          </a:xfrm>
          <a:prstGeom prst="rect">
            <a:avLst/>
          </a:prstGeom>
          <a:noFill/>
        </p:spPr>
        <p:txBody>
          <a:bodyPr wrap="square">
            <a:spAutoFit/>
          </a:bodyPr>
          <a:lstStyle/>
          <a:p>
            <a:pPr algn="l">
              <a:defRPr sz="1000" b="0" i="0">
                <a:solidFill>
                  <a:srgbClr val="4A5568"/>
                </a:solidFill>
                <a:latin typeface="Trebuchet MS"/>
              </a:defRPr>
            </a:pPr>
            <a:r>
              <a:t>Trigger automated retention at 90, 60, 30 days out</a:t>
            </a:r>
          </a:p>
        </p:txBody>
      </p:sp>
      <p:sp>
        <p:nvSpPr>
          <p:cNvPr id="53" name="Rectangle 52"/>
          <p:cNvSpPr/>
          <p:nvPr/>
        </p:nvSpPr>
        <p:spPr>
          <a:xfrm>
            <a:off x="6400800" y="5212080"/>
            <a:ext cx="5394960" cy="822960"/>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400800" y="5212080"/>
            <a:ext cx="73152" cy="8229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537960" y="5257800"/>
            <a:ext cx="914400" cy="274320"/>
          </a:xfrm>
          <a:prstGeom prst="rect">
            <a:avLst/>
          </a:prstGeom>
          <a:noFill/>
        </p:spPr>
        <p:txBody>
          <a:bodyPr wrap="square">
            <a:spAutoFit/>
          </a:bodyPr>
          <a:lstStyle/>
          <a:p>
            <a:pPr algn="l">
              <a:defRPr sz="900" b="1" i="0">
                <a:solidFill>
                  <a:srgbClr val="C0392B"/>
                </a:solidFill>
                <a:latin typeface="Trebuchet MS"/>
              </a:defRPr>
            </a:pPr>
            <a:r>
              <a:t>COMBO</a:t>
            </a:r>
          </a:p>
        </p:txBody>
      </p:sp>
      <p:sp>
        <p:nvSpPr>
          <p:cNvPr id="56" name="TextBox 55"/>
          <p:cNvSpPr txBox="1"/>
          <p:nvPr/>
        </p:nvSpPr>
        <p:spPr>
          <a:xfrm>
            <a:off x="6537960" y="5504688"/>
            <a:ext cx="4663440" cy="274320"/>
          </a:xfrm>
          <a:prstGeom prst="rect">
            <a:avLst/>
          </a:prstGeom>
          <a:noFill/>
        </p:spPr>
        <p:txBody>
          <a:bodyPr wrap="square">
            <a:spAutoFit/>
          </a:bodyPr>
          <a:lstStyle/>
          <a:p>
            <a:pPr algn="l">
              <a:defRPr sz="1200" b="1" i="0">
                <a:solidFill>
                  <a:srgbClr val="0A192F"/>
                </a:solidFill>
                <a:latin typeface="Trebuchet MS"/>
              </a:defRPr>
            </a:pPr>
            <a:r>
              <a:t>Online TA + No Deposit</a:t>
            </a:r>
          </a:p>
        </p:txBody>
      </p:sp>
      <p:sp>
        <p:nvSpPr>
          <p:cNvPr id="57" name="TextBox 56"/>
          <p:cNvSpPr txBox="1"/>
          <p:nvPr/>
        </p:nvSpPr>
        <p:spPr>
          <a:xfrm>
            <a:off x="6537960" y="5760720"/>
            <a:ext cx="4663440" cy="256032"/>
          </a:xfrm>
          <a:prstGeom prst="rect">
            <a:avLst/>
          </a:prstGeom>
          <a:noFill/>
        </p:spPr>
        <p:txBody>
          <a:bodyPr wrap="square">
            <a:spAutoFit/>
          </a:bodyPr>
          <a:lstStyle/>
          <a:p>
            <a:pPr algn="l">
              <a:defRPr sz="1000" b="0" i="0">
                <a:solidFill>
                  <a:srgbClr val="4A5568"/>
                </a:solidFill>
                <a:latin typeface="Trebuchet MS"/>
              </a:defRPr>
            </a:pPr>
            <a:r>
              <a:t>Highest risk + furthest lead = priority intervention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704320" cy="1005840"/>
          </a:xfrm>
          <a:prstGeom prst="rect">
            <a:avLst/>
          </a:prstGeom>
          <a:noFill/>
        </p:spPr>
        <p:txBody>
          <a:bodyPr wrap="square">
            <a:spAutoFit/>
          </a:bodyPr>
          <a:lstStyle/>
          <a:p>
            <a:pPr algn="l">
              <a:defRPr sz="1700" b="1" i="0">
                <a:solidFill>
                  <a:srgbClr val="FFFFFF"/>
                </a:solidFill>
                <a:latin typeface="Trebuchet MS"/>
              </a:defRPr>
            </a:pPr>
            <a:r>
              <a:t>DEPLOYMENT ROADMAP: FROM SCORES TO OPERATIONS</a:t>
            </a:r>
          </a:p>
        </p:txBody>
      </p:sp>
      <p:sp>
        <p:nvSpPr>
          <p:cNvPr id="4" name="Rectangle 3"/>
          <p:cNvSpPr/>
          <p:nvPr/>
        </p:nvSpPr>
        <p:spPr>
          <a:xfrm>
            <a:off x="365760" y="1097280"/>
            <a:ext cx="3566160" cy="2514600"/>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097280"/>
            <a:ext cx="3566160" cy="50292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143000"/>
            <a:ext cx="3383280" cy="438912"/>
          </a:xfrm>
          <a:prstGeom prst="rect">
            <a:avLst/>
          </a:prstGeom>
          <a:noFill/>
        </p:spPr>
        <p:txBody>
          <a:bodyPr wrap="square">
            <a:spAutoFit/>
          </a:bodyPr>
          <a:lstStyle/>
          <a:p>
            <a:pPr algn="l">
              <a:defRPr sz="1300" b="1" i="0">
                <a:solidFill>
                  <a:srgbClr val="FFFFFF"/>
                </a:solidFill>
                <a:latin typeface="Trebuchet MS"/>
              </a:defRPr>
            </a:pPr>
            <a:r>
              <a:t>01  Embed in PMS</a:t>
            </a:r>
          </a:p>
        </p:txBody>
      </p:sp>
      <p:sp>
        <p:nvSpPr>
          <p:cNvPr id="7" name="TextBox 6"/>
          <p:cNvSpPr txBox="1"/>
          <p:nvPr/>
        </p:nvSpPr>
        <p:spPr>
          <a:xfrm>
            <a:off x="502920" y="1691640"/>
            <a:ext cx="3291840" cy="1737360"/>
          </a:xfrm>
          <a:prstGeom prst="rect">
            <a:avLst/>
          </a:prstGeom>
          <a:noFill/>
        </p:spPr>
        <p:txBody>
          <a:bodyPr wrap="square">
            <a:spAutoFit/>
          </a:bodyPr>
          <a:lstStyle/>
          <a:p>
            <a:pPr algn="l">
              <a:defRPr sz="1100" b="0" i="0">
                <a:solidFill>
                  <a:srgbClr val="4A5568"/>
                </a:solidFill>
                <a:latin typeface="Trebuchet MS"/>
              </a:defRPr>
            </a:pPr>
            <a:r>
              <a:t>Random forest runs on every new reservation in real time. Risk scores &gt;70% surface on the daily revenue dashboard.</a:t>
            </a:r>
          </a:p>
        </p:txBody>
      </p:sp>
      <p:sp>
        <p:nvSpPr>
          <p:cNvPr id="8" name="Rectangle 7"/>
          <p:cNvSpPr/>
          <p:nvPr/>
        </p:nvSpPr>
        <p:spPr>
          <a:xfrm>
            <a:off x="4343400" y="1097280"/>
            <a:ext cx="3566160" cy="2514600"/>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43400" y="1097280"/>
            <a:ext cx="3566160" cy="502920"/>
          </a:xfrm>
          <a:prstGeom prst="rect">
            <a:avLst/>
          </a:prstGeom>
          <a:solidFill>
            <a:srgbClr val="1A6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34840" y="1143000"/>
            <a:ext cx="3383280" cy="438912"/>
          </a:xfrm>
          <a:prstGeom prst="rect">
            <a:avLst/>
          </a:prstGeom>
          <a:noFill/>
        </p:spPr>
        <p:txBody>
          <a:bodyPr wrap="square">
            <a:spAutoFit/>
          </a:bodyPr>
          <a:lstStyle/>
          <a:p>
            <a:pPr algn="l">
              <a:defRPr sz="1300" b="1" i="0">
                <a:solidFill>
                  <a:srgbClr val="FFFFFF"/>
                </a:solidFill>
                <a:latin typeface="Trebuchet MS"/>
              </a:defRPr>
            </a:pPr>
            <a:r>
              <a:t>02  Automate Response</a:t>
            </a:r>
          </a:p>
        </p:txBody>
      </p:sp>
      <p:sp>
        <p:nvSpPr>
          <p:cNvPr id="11" name="TextBox 10"/>
          <p:cNvSpPr txBox="1"/>
          <p:nvPr/>
        </p:nvSpPr>
        <p:spPr>
          <a:xfrm>
            <a:off x="4480560" y="1691640"/>
            <a:ext cx="3291840" cy="1737360"/>
          </a:xfrm>
          <a:prstGeom prst="rect">
            <a:avLst/>
          </a:prstGeom>
          <a:noFill/>
        </p:spPr>
        <p:txBody>
          <a:bodyPr wrap="square">
            <a:spAutoFit/>
          </a:bodyPr>
          <a:lstStyle/>
          <a:p>
            <a:pPr algn="l">
              <a:defRPr sz="1100" b="0" i="0">
                <a:solidFill>
                  <a:srgbClr val="4A5568"/>
                </a:solidFill>
                <a:latin typeface="Trebuchet MS"/>
              </a:defRPr>
            </a:pPr>
            <a:r>
              <a:t>High-risk bookings trigger a personalized email within 24 hrs offering a discount to switch to non-refundable rate.</a:t>
            </a:r>
          </a:p>
        </p:txBody>
      </p:sp>
      <p:sp>
        <p:nvSpPr>
          <p:cNvPr id="12" name="Rectangle 11"/>
          <p:cNvSpPr/>
          <p:nvPr/>
        </p:nvSpPr>
        <p:spPr>
          <a:xfrm>
            <a:off x="8321040" y="1097280"/>
            <a:ext cx="3566160" cy="2514600"/>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321040" y="1097280"/>
            <a:ext cx="3566160" cy="50292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0" y="1143000"/>
            <a:ext cx="3383280" cy="438912"/>
          </a:xfrm>
          <a:prstGeom prst="rect">
            <a:avLst/>
          </a:prstGeom>
          <a:noFill/>
        </p:spPr>
        <p:txBody>
          <a:bodyPr wrap="square">
            <a:spAutoFit/>
          </a:bodyPr>
          <a:lstStyle/>
          <a:p>
            <a:pPr algn="l">
              <a:defRPr sz="1300" b="1" i="0">
                <a:solidFill>
                  <a:srgbClr val="FFFFFF"/>
                </a:solidFill>
                <a:latin typeface="Trebuchet MS"/>
              </a:defRPr>
            </a:pPr>
            <a:r>
              <a:t>03  Dynamic Pricing</a:t>
            </a:r>
          </a:p>
        </p:txBody>
      </p:sp>
      <p:sp>
        <p:nvSpPr>
          <p:cNvPr id="15" name="TextBox 14"/>
          <p:cNvSpPr txBox="1"/>
          <p:nvPr/>
        </p:nvSpPr>
        <p:spPr>
          <a:xfrm>
            <a:off x="8458200" y="1691640"/>
            <a:ext cx="3291840" cy="1737360"/>
          </a:xfrm>
          <a:prstGeom prst="rect">
            <a:avLst/>
          </a:prstGeom>
          <a:noFill/>
        </p:spPr>
        <p:txBody>
          <a:bodyPr wrap="square">
            <a:spAutoFit/>
          </a:bodyPr>
          <a:lstStyle/>
          <a:p>
            <a:pPr algn="l">
              <a:defRPr sz="1100" b="0" i="0">
                <a:solidFill>
                  <a:srgbClr val="4A5568"/>
                </a:solidFill>
                <a:latin typeface="Trebuchet MS"/>
              </a:defRPr>
            </a:pPr>
            <a:r>
              <a:t>Lead time predictions feed pricing engines — early-bird windows flex per forecasted booking curve for each date.</a:t>
            </a:r>
          </a:p>
        </p:txBody>
      </p:sp>
      <p:sp>
        <p:nvSpPr>
          <p:cNvPr id="16" name="Rectangle 15"/>
          <p:cNvSpPr/>
          <p:nvPr/>
        </p:nvSpPr>
        <p:spPr>
          <a:xfrm>
            <a:off x="365760" y="3794760"/>
            <a:ext cx="3566160" cy="2514600"/>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5760" y="3794760"/>
            <a:ext cx="3566160" cy="502920"/>
          </a:xfrm>
          <a:prstGeom prst="rect">
            <a:avLst/>
          </a:prstGeom>
          <a:solidFill>
            <a:srgbClr val="5A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3840480"/>
            <a:ext cx="3383280" cy="438912"/>
          </a:xfrm>
          <a:prstGeom prst="rect">
            <a:avLst/>
          </a:prstGeom>
          <a:noFill/>
        </p:spPr>
        <p:txBody>
          <a:bodyPr wrap="square">
            <a:spAutoFit/>
          </a:bodyPr>
          <a:lstStyle/>
          <a:p>
            <a:pPr algn="l">
              <a:defRPr sz="1300" b="1" i="0">
                <a:solidFill>
                  <a:srgbClr val="FFFFFF"/>
                </a:solidFill>
                <a:latin typeface="Trebuchet MS"/>
              </a:defRPr>
            </a:pPr>
            <a:r>
              <a:t>04  Deposit by Segment</a:t>
            </a:r>
          </a:p>
        </p:txBody>
      </p:sp>
      <p:sp>
        <p:nvSpPr>
          <p:cNvPr id="19" name="TextBox 18"/>
          <p:cNvSpPr txBox="1"/>
          <p:nvPr/>
        </p:nvSpPr>
        <p:spPr>
          <a:xfrm>
            <a:off x="502920" y="4389120"/>
            <a:ext cx="3291840" cy="1737360"/>
          </a:xfrm>
          <a:prstGeom prst="rect">
            <a:avLst/>
          </a:prstGeom>
          <a:noFill/>
        </p:spPr>
        <p:txBody>
          <a:bodyPr wrap="square">
            <a:spAutoFit/>
          </a:bodyPr>
          <a:lstStyle/>
          <a:p>
            <a:pPr algn="l">
              <a:defRPr sz="1100" b="0" i="0">
                <a:solidFill>
                  <a:srgbClr val="4A5568"/>
                </a:solidFill>
                <a:latin typeface="Trebuchet MS"/>
              </a:defRPr>
            </a:pPr>
            <a:r>
              <a:t>Require partial pre-payment for Online TA bookings with &gt;90-day lead. Direct/corporate keep lighter requirements.</a:t>
            </a:r>
          </a:p>
        </p:txBody>
      </p:sp>
      <p:sp>
        <p:nvSpPr>
          <p:cNvPr id="20" name="Rectangle 19"/>
          <p:cNvSpPr/>
          <p:nvPr/>
        </p:nvSpPr>
        <p:spPr>
          <a:xfrm>
            <a:off x="4343400" y="3794760"/>
            <a:ext cx="3566160" cy="2514600"/>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794760"/>
            <a:ext cx="3566160" cy="502920"/>
          </a:xfrm>
          <a:prstGeom prst="rect">
            <a:avLst/>
          </a:prstGeom>
          <a:solidFill>
            <a:srgbClr val="8A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34840" y="3840480"/>
            <a:ext cx="3383280" cy="438912"/>
          </a:xfrm>
          <a:prstGeom prst="rect">
            <a:avLst/>
          </a:prstGeom>
          <a:noFill/>
        </p:spPr>
        <p:txBody>
          <a:bodyPr wrap="square">
            <a:spAutoFit/>
          </a:bodyPr>
          <a:lstStyle/>
          <a:p>
            <a:pPr algn="l">
              <a:defRPr sz="1300" b="1" i="0">
                <a:solidFill>
                  <a:srgbClr val="FFFFFF"/>
                </a:solidFill>
                <a:latin typeface="Trebuchet MS"/>
              </a:defRPr>
            </a:pPr>
            <a:r>
              <a:t>05  Dynamic Overbooking</a:t>
            </a:r>
          </a:p>
        </p:txBody>
      </p:sp>
      <p:sp>
        <p:nvSpPr>
          <p:cNvPr id="23" name="TextBox 22"/>
          <p:cNvSpPr txBox="1"/>
          <p:nvPr/>
        </p:nvSpPr>
        <p:spPr>
          <a:xfrm>
            <a:off x="4480560" y="4389120"/>
            <a:ext cx="3291840" cy="1737360"/>
          </a:xfrm>
          <a:prstGeom prst="rect">
            <a:avLst/>
          </a:prstGeom>
          <a:noFill/>
        </p:spPr>
        <p:txBody>
          <a:bodyPr wrap="square">
            <a:spAutoFit/>
          </a:bodyPr>
          <a:lstStyle/>
          <a:p>
            <a:pPr algn="l">
              <a:defRPr sz="1100" b="0" i="0">
                <a:solidFill>
                  <a:srgbClr val="4A5568"/>
                </a:solidFill>
                <a:latin typeface="Trebuchet MS"/>
              </a:defRPr>
            </a:pPr>
            <a:r>
              <a:t>Replace static annual rule with month-specific thresholds based on each cohort's predicted cancellation distribution.</a:t>
            </a:r>
          </a:p>
        </p:txBody>
      </p:sp>
      <p:sp>
        <p:nvSpPr>
          <p:cNvPr id="24" name="Rectangle 23"/>
          <p:cNvSpPr/>
          <p:nvPr/>
        </p:nvSpPr>
        <p:spPr>
          <a:xfrm>
            <a:off x="8321040" y="3794760"/>
            <a:ext cx="3566160" cy="2514600"/>
          </a:xfrm>
          <a:prstGeom prst="rect">
            <a:avLst/>
          </a:prstGeom>
          <a:solidFill>
            <a:srgbClr val="FFFFFF"/>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321040" y="3794760"/>
            <a:ext cx="3566160" cy="502920"/>
          </a:xfrm>
          <a:prstGeom prst="rect">
            <a:avLst/>
          </a:prstGeom>
          <a:solidFill>
            <a:srgbClr val="6A4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80" y="3840480"/>
            <a:ext cx="3383280" cy="438912"/>
          </a:xfrm>
          <a:prstGeom prst="rect">
            <a:avLst/>
          </a:prstGeom>
          <a:noFill/>
        </p:spPr>
        <p:txBody>
          <a:bodyPr wrap="square">
            <a:spAutoFit/>
          </a:bodyPr>
          <a:lstStyle/>
          <a:p>
            <a:pPr algn="l">
              <a:defRPr sz="1300" b="1" i="0">
                <a:solidFill>
                  <a:srgbClr val="FFFFFF"/>
                </a:solidFill>
                <a:latin typeface="Trebuchet MS"/>
              </a:defRPr>
            </a:pPr>
            <a:r>
              <a:t>06  Quarterly Retraining</a:t>
            </a:r>
          </a:p>
        </p:txBody>
      </p:sp>
      <p:sp>
        <p:nvSpPr>
          <p:cNvPr id="27" name="TextBox 26"/>
          <p:cNvSpPr txBox="1"/>
          <p:nvPr/>
        </p:nvSpPr>
        <p:spPr>
          <a:xfrm>
            <a:off x="8458200" y="4389120"/>
            <a:ext cx="3291840" cy="1737360"/>
          </a:xfrm>
          <a:prstGeom prst="rect">
            <a:avLst/>
          </a:prstGeom>
          <a:noFill/>
        </p:spPr>
        <p:txBody>
          <a:bodyPr wrap="square">
            <a:spAutoFit/>
          </a:bodyPr>
          <a:lstStyle/>
          <a:p>
            <a:pPr algn="l">
              <a:defRPr sz="1100" b="0" i="0">
                <a:solidFill>
                  <a:srgbClr val="4A5568"/>
                </a:solidFill>
                <a:latin typeface="Trebuchet MS"/>
              </a:defRPr>
            </a:pPr>
            <a:r>
              <a:t>Monitor feature drift in lead time &amp; ADR. Retrain and validate both models before pushing new version live.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097280"/>
            <a:ext cx="1143000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82880"/>
            <a:ext cx="11430000" cy="822960"/>
          </a:xfrm>
          <a:prstGeom prst="rect">
            <a:avLst/>
          </a:prstGeom>
          <a:noFill/>
        </p:spPr>
        <p:txBody>
          <a:bodyPr wrap="square">
            <a:spAutoFit/>
          </a:bodyPr>
          <a:lstStyle/>
          <a:p>
            <a:pPr algn="l">
              <a:defRPr sz="1700" b="1" i="0">
                <a:solidFill>
                  <a:srgbClr val="FFFFFF"/>
                </a:solidFill>
                <a:latin typeface="Trebuchet MS"/>
              </a:defRPr>
            </a:pPr>
            <a:r>
              <a:t>FINANCIAL IMPACT</a:t>
            </a:r>
          </a:p>
        </p:txBody>
      </p:sp>
      <p:sp>
        <p:nvSpPr>
          <p:cNvPr id="5" name="Rectangle 4"/>
          <p:cNvSpPr/>
          <p:nvPr/>
        </p:nvSpPr>
        <p:spPr>
          <a:xfrm>
            <a:off x="640080" y="1280160"/>
            <a:ext cx="3291840" cy="18288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71600"/>
            <a:ext cx="3291840" cy="822960"/>
          </a:xfrm>
          <a:prstGeom prst="rect">
            <a:avLst/>
          </a:prstGeom>
          <a:noFill/>
        </p:spPr>
        <p:txBody>
          <a:bodyPr wrap="square">
            <a:spAutoFit/>
          </a:bodyPr>
          <a:lstStyle/>
          <a:p>
            <a:pPr algn="ctr">
              <a:defRPr sz="3400" b="1" i="0">
                <a:solidFill>
                  <a:srgbClr val="D4AF37"/>
                </a:solidFill>
                <a:latin typeface="Trebuchet MS"/>
              </a:defRPr>
            </a:pPr>
            <a:r>
              <a:t>€164,000</a:t>
            </a:r>
          </a:p>
        </p:txBody>
      </p:sp>
      <p:sp>
        <p:nvSpPr>
          <p:cNvPr id="7" name="TextBox 6"/>
          <p:cNvSpPr txBox="1"/>
          <p:nvPr/>
        </p:nvSpPr>
        <p:spPr>
          <a:xfrm>
            <a:off x="640080" y="2148840"/>
            <a:ext cx="3291840" cy="822960"/>
          </a:xfrm>
          <a:prstGeom prst="rect">
            <a:avLst/>
          </a:prstGeom>
          <a:noFill/>
        </p:spPr>
        <p:txBody>
          <a:bodyPr wrap="square">
            <a:spAutoFit/>
          </a:bodyPr>
          <a:lstStyle/>
          <a:p>
            <a:pPr algn="ctr">
              <a:defRPr sz="1300" b="0" i="0">
                <a:solidFill>
                  <a:srgbClr val="FFFFFF"/>
                </a:solidFill>
                <a:latin typeface="Trebuchet MS"/>
              </a:defRPr>
            </a:pPr>
            <a:r>
              <a:t>Additional annual revenue</a:t>
            </a:r>
            <a:br/>
            <a:r>
              <a:t>per 300-room hotel</a:t>
            </a:r>
          </a:p>
        </p:txBody>
      </p:sp>
      <p:sp>
        <p:nvSpPr>
          <p:cNvPr id="8" name="Rectangle 7"/>
          <p:cNvSpPr/>
          <p:nvPr/>
        </p:nvSpPr>
        <p:spPr>
          <a:xfrm>
            <a:off x="4389120" y="1280160"/>
            <a:ext cx="3291840" cy="18288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89120" y="1371600"/>
            <a:ext cx="3291840" cy="822960"/>
          </a:xfrm>
          <a:prstGeom prst="rect">
            <a:avLst/>
          </a:prstGeom>
          <a:noFill/>
        </p:spPr>
        <p:txBody>
          <a:bodyPr wrap="square">
            <a:spAutoFit/>
          </a:bodyPr>
          <a:lstStyle/>
          <a:p>
            <a:pPr algn="ctr">
              <a:defRPr sz="3400" b="1" i="0">
                <a:solidFill>
                  <a:srgbClr val="D4AF37"/>
                </a:solidFill>
                <a:latin typeface="Trebuchet MS"/>
              </a:defRPr>
            </a:pPr>
            <a:r>
              <a:t>10%</a:t>
            </a:r>
          </a:p>
        </p:txBody>
      </p:sp>
      <p:sp>
        <p:nvSpPr>
          <p:cNvPr id="10" name="TextBox 9"/>
          <p:cNvSpPr txBox="1"/>
          <p:nvPr/>
        </p:nvSpPr>
        <p:spPr>
          <a:xfrm>
            <a:off x="4389120" y="2148840"/>
            <a:ext cx="3291840" cy="822960"/>
          </a:xfrm>
          <a:prstGeom prst="rect">
            <a:avLst/>
          </a:prstGeom>
          <a:noFill/>
        </p:spPr>
        <p:txBody>
          <a:bodyPr wrap="square">
            <a:spAutoFit/>
          </a:bodyPr>
          <a:lstStyle/>
          <a:p>
            <a:pPr algn="ctr">
              <a:defRPr sz="1300" b="0" i="0">
                <a:solidFill>
                  <a:srgbClr val="FFFFFF"/>
                </a:solidFill>
                <a:latin typeface="Trebuchet MS"/>
              </a:defRPr>
            </a:pPr>
            <a:r>
              <a:t>Reduction in undetected</a:t>
            </a:r>
            <a:br/>
            <a:r>
              <a:t>cancellations needed</a:t>
            </a:r>
          </a:p>
        </p:txBody>
      </p:sp>
      <p:sp>
        <p:nvSpPr>
          <p:cNvPr id="11" name="Rectangle 10"/>
          <p:cNvSpPr/>
          <p:nvPr/>
        </p:nvSpPr>
        <p:spPr>
          <a:xfrm>
            <a:off x="8138159" y="1280160"/>
            <a:ext cx="3291840" cy="18288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38159" y="1371600"/>
            <a:ext cx="3291840" cy="822960"/>
          </a:xfrm>
          <a:prstGeom prst="rect">
            <a:avLst/>
          </a:prstGeom>
          <a:noFill/>
        </p:spPr>
        <p:txBody>
          <a:bodyPr wrap="square">
            <a:spAutoFit/>
          </a:bodyPr>
          <a:lstStyle/>
          <a:p>
            <a:pPr algn="ctr">
              <a:defRPr sz="3400" b="1" i="0">
                <a:solidFill>
                  <a:srgbClr val="D4AF37"/>
                </a:solidFill>
                <a:latin typeface="Trebuchet MS"/>
              </a:defRPr>
            </a:pPr>
            <a:r>
              <a:t>8–12%</a:t>
            </a:r>
          </a:p>
        </p:txBody>
      </p:sp>
      <p:sp>
        <p:nvSpPr>
          <p:cNvPr id="13" name="TextBox 12"/>
          <p:cNvSpPr txBox="1"/>
          <p:nvPr/>
        </p:nvSpPr>
        <p:spPr>
          <a:xfrm>
            <a:off x="8138159" y="2148840"/>
            <a:ext cx="3291840" cy="822960"/>
          </a:xfrm>
          <a:prstGeom prst="rect">
            <a:avLst/>
          </a:prstGeom>
          <a:noFill/>
        </p:spPr>
        <p:txBody>
          <a:bodyPr wrap="square">
            <a:spAutoFit/>
          </a:bodyPr>
          <a:lstStyle/>
          <a:p>
            <a:pPr algn="ctr">
              <a:defRPr sz="1300" b="0" i="0">
                <a:solidFill>
                  <a:srgbClr val="FFFFFF"/>
                </a:solidFill>
                <a:latin typeface="Trebuchet MS"/>
              </a:defRPr>
            </a:pPr>
            <a:r>
              <a:t>ADR lift from smarter</a:t>
            </a:r>
            <a:br/>
            <a:r>
              <a:t>dynamic pricing</a:t>
            </a:r>
          </a:p>
        </p:txBody>
      </p:sp>
      <p:sp>
        <p:nvSpPr>
          <p:cNvPr id="14" name="TextBox 13"/>
          <p:cNvSpPr txBox="1"/>
          <p:nvPr/>
        </p:nvSpPr>
        <p:spPr>
          <a:xfrm>
            <a:off x="640080" y="3337560"/>
            <a:ext cx="11430000" cy="457200"/>
          </a:xfrm>
          <a:prstGeom prst="rect">
            <a:avLst/>
          </a:prstGeom>
          <a:noFill/>
        </p:spPr>
        <p:txBody>
          <a:bodyPr wrap="square">
            <a:spAutoFit/>
          </a:bodyPr>
          <a:lstStyle/>
          <a:p>
            <a:pPr algn="l">
              <a:defRPr sz="1800" b="1" i="0">
                <a:solidFill>
                  <a:srgbClr val="D4AF37"/>
                </a:solidFill>
                <a:latin typeface="Trebuchet MS"/>
              </a:defRPr>
            </a:pPr>
            <a:r>
              <a:t>The Real Value Is Operational</a:t>
            </a:r>
          </a:p>
        </p:txBody>
      </p:sp>
      <p:sp>
        <p:nvSpPr>
          <p:cNvPr id="15" name="TextBox 14"/>
          <p:cNvSpPr txBox="1"/>
          <p:nvPr/>
        </p:nvSpPr>
        <p:spPr>
          <a:xfrm>
            <a:off x="640080" y="3840480"/>
            <a:ext cx="10972800" cy="1463040"/>
          </a:xfrm>
          <a:prstGeom prst="rect">
            <a:avLst/>
          </a:prstGeom>
          <a:noFill/>
        </p:spPr>
        <p:txBody>
          <a:bodyPr wrap="square">
            <a:spAutoFit/>
          </a:bodyPr>
          <a:lstStyle/>
          <a:p>
            <a:pPr algn="l">
              <a:defRPr sz="1300" b="0" i="0">
                <a:solidFill>
                  <a:srgbClr val="ADD8E6"/>
                </a:solidFill>
                <a:latin typeface="Trebuchet MS"/>
              </a:defRPr>
            </a:pPr>
            <a:r>
              <a:t>Revenue managers stop guessing and start deciding with better information. Front desk teams get clear signals about which bookings need extra care. Marketing targets the segments that move the needle on retention. The entire property moves one step closer to treating every booking as an individual opportunity — not a number in an annual average.</a:t>
            </a:r>
          </a:p>
        </p:txBody>
      </p:sp>
      <p:sp>
        <p:nvSpPr>
          <p:cNvPr id="16" name="Rectangle 15"/>
          <p:cNvSpPr/>
          <p:nvPr/>
        </p:nvSpPr>
        <p:spPr>
          <a:xfrm>
            <a:off x="365760" y="5577840"/>
            <a:ext cx="11430000" cy="1005840"/>
          </a:xfrm>
          <a:prstGeom prst="rect">
            <a:avLst/>
          </a:prstGeom>
          <a:solidFill>
            <a:srgbClr val="05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5623560"/>
            <a:ext cx="10972800" cy="822960"/>
          </a:xfrm>
          <a:prstGeom prst="rect">
            <a:avLst/>
          </a:prstGeom>
          <a:noFill/>
        </p:spPr>
        <p:txBody>
          <a:bodyPr wrap="square">
            <a:spAutoFit/>
          </a:bodyPr>
          <a:lstStyle/>
          <a:p>
            <a:pPr algn="ctr">
              <a:defRPr sz="1300" b="0" i="1">
                <a:solidFill>
                  <a:srgbClr val="D4AF37"/>
                </a:solidFill>
                <a:latin typeface="Trebuchet MS"/>
              </a:defRPr>
            </a:pPr>
            <a:r>
              <a:t>"The shift from reactive to proactive is what turns a good hotel into a consistently high-performing one."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704320" cy="1005840"/>
          </a:xfrm>
          <a:prstGeom prst="rect">
            <a:avLst/>
          </a:prstGeom>
          <a:noFill/>
        </p:spPr>
        <p:txBody>
          <a:bodyPr wrap="square">
            <a:spAutoFit/>
          </a:bodyPr>
          <a:lstStyle/>
          <a:p>
            <a:pPr algn="l">
              <a:defRPr sz="1700" b="1" i="0">
                <a:solidFill>
                  <a:srgbClr val="FFFFFF"/>
                </a:solidFill>
                <a:latin typeface="Trebuchet MS"/>
              </a:defRPr>
            </a:pPr>
            <a:r>
              <a:t>CONCLUSION &amp; NEXT STEPS</a:t>
            </a:r>
          </a:p>
        </p:txBody>
      </p:sp>
      <p:sp>
        <p:nvSpPr>
          <p:cNvPr id="4" name="Rectangle 3"/>
          <p:cNvSpPr/>
          <p:nvPr/>
        </p:nvSpPr>
        <p:spPr>
          <a:xfrm>
            <a:off x="365760" y="1143000"/>
            <a:ext cx="7132320" cy="804672"/>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143000"/>
            <a:ext cx="91440" cy="804672"/>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197864"/>
            <a:ext cx="3200400" cy="320040"/>
          </a:xfrm>
          <a:prstGeom prst="rect">
            <a:avLst/>
          </a:prstGeom>
          <a:noFill/>
        </p:spPr>
        <p:txBody>
          <a:bodyPr wrap="square">
            <a:spAutoFit/>
          </a:bodyPr>
          <a:lstStyle/>
          <a:p>
            <a:pPr algn="l">
              <a:defRPr sz="1300" b="1" i="0">
                <a:solidFill>
                  <a:srgbClr val="0A192F"/>
                </a:solidFill>
                <a:latin typeface="Trebuchet MS"/>
              </a:defRPr>
            </a:pPr>
            <a:r>
              <a:t>Random Forest</a:t>
            </a:r>
          </a:p>
        </p:txBody>
      </p:sp>
      <p:sp>
        <p:nvSpPr>
          <p:cNvPr id="7" name="TextBox 6"/>
          <p:cNvSpPr txBox="1"/>
          <p:nvPr/>
        </p:nvSpPr>
        <p:spPr>
          <a:xfrm>
            <a:off x="594360" y="1554480"/>
            <a:ext cx="6675120" cy="261610"/>
          </a:xfrm>
          <a:prstGeom prst="rect">
            <a:avLst/>
          </a:prstGeom>
          <a:noFill/>
        </p:spPr>
        <p:txBody>
          <a:bodyPr wrap="square">
            <a:spAutoFit/>
          </a:bodyPr>
          <a:lstStyle/>
          <a:p>
            <a:pPr algn="l">
              <a:defRPr sz="1100" b="0" i="0">
                <a:solidFill>
                  <a:srgbClr val="4A5568"/>
                </a:solidFill>
                <a:latin typeface="Trebuchet MS"/>
              </a:defRPr>
            </a:pPr>
            <a:r>
              <a:rPr dirty="0"/>
              <a:t>Cancellation risk classifier — 7</a:t>
            </a:r>
            <a:r>
              <a:rPr lang="en-US" dirty="0"/>
              <a:t>4</a:t>
            </a:r>
            <a:r>
              <a:rPr dirty="0"/>
              <a:t>.</a:t>
            </a:r>
            <a:r>
              <a:rPr lang="en-US" dirty="0"/>
              <a:t>22</a:t>
            </a:r>
            <a:r>
              <a:rPr dirty="0"/>
              <a:t>% accuracy, F1=0.6</a:t>
            </a:r>
            <a:r>
              <a:rPr lang="en-US" dirty="0"/>
              <a:t>38</a:t>
            </a:r>
            <a:endParaRPr dirty="0"/>
          </a:p>
        </p:txBody>
      </p:sp>
      <p:sp>
        <p:nvSpPr>
          <p:cNvPr id="8" name="Rectangle 7"/>
          <p:cNvSpPr/>
          <p:nvPr/>
        </p:nvSpPr>
        <p:spPr>
          <a:xfrm>
            <a:off x="365760" y="2057400"/>
            <a:ext cx="7132320" cy="804672"/>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2057400"/>
            <a:ext cx="91440" cy="804672"/>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112264"/>
            <a:ext cx="3200400" cy="320040"/>
          </a:xfrm>
          <a:prstGeom prst="rect">
            <a:avLst/>
          </a:prstGeom>
          <a:noFill/>
        </p:spPr>
        <p:txBody>
          <a:bodyPr wrap="square">
            <a:spAutoFit/>
          </a:bodyPr>
          <a:lstStyle/>
          <a:p>
            <a:pPr algn="l">
              <a:defRPr sz="1300" b="1" i="0">
                <a:solidFill>
                  <a:srgbClr val="0A192F"/>
                </a:solidFill>
                <a:latin typeface="Trebuchet MS"/>
              </a:defRPr>
            </a:pPr>
            <a:r>
              <a:t>Gradient Boosting</a:t>
            </a:r>
          </a:p>
        </p:txBody>
      </p:sp>
      <p:sp>
        <p:nvSpPr>
          <p:cNvPr id="11" name="TextBox 10"/>
          <p:cNvSpPr txBox="1"/>
          <p:nvPr/>
        </p:nvSpPr>
        <p:spPr>
          <a:xfrm>
            <a:off x="594360" y="2468880"/>
            <a:ext cx="6675120" cy="261610"/>
          </a:xfrm>
          <a:prstGeom prst="rect">
            <a:avLst/>
          </a:prstGeom>
          <a:noFill/>
        </p:spPr>
        <p:txBody>
          <a:bodyPr wrap="square">
            <a:spAutoFit/>
          </a:bodyPr>
          <a:lstStyle/>
          <a:p>
            <a:pPr algn="l">
              <a:defRPr sz="1100" b="0" i="0">
                <a:solidFill>
                  <a:srgbClr val="4A5568"/>
                </a:solidFill>
                <a:latin typeface="Trebuchet MS"/>
              </a:defRPr>
            </a:pPr>
            <a:r>
              <a:rPr dirty="0"/>
              <a:t>Lead time regressor — MAE 3</a:t>
            </a:r>
            <a:r>
              <a:rPr lang="en-US" dirty="0"/>
              <a:t>9</a:t>
            </a:r>
            <a:r>
              <a:rPr dirty="0"/>
              <a:t>.</a:t>
            </a:r>
            <a:r>
              <a:rPr lang="en-US" dirty="0"/>
              <a:t>36</a:t>
            </a:r>
            <a:r>
              <a:rPr dirty="0"/>
              <a:t> days, R²=0.</a:t>
            </a:r>
            <a:r>
              <a:rPr lang="en-US" dirty="0"/>
              <a:t>583</a:t>
            </a:r>
            <a:endParaRPr dirty="0"/>
          </a:p>
        </p:txBody>
      </p:sp>
      <p:sp>
        <p:nvSpPr>
          <p:cNvPr id="12" name="Rectangle 11"/>
          <p:cNvSpPr/>
          <p:nvPr/>
        </p:nvSpPr>
        <p:spPr>
          <a:xfrm>
            <a:off x="365760" y="2971800"/>
            <a:ext cx="7132320" cy="804672"/>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 y="2971800"/>
            <a:ext cx="91440" cy="804672"/>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3026664"/>
            <a:ext cx="3200400" cy="320040"/>
          </a:xfrm>
          <a:prstGeom prst="rect">
            <a:avLst/>
          </a:prstGeom>
          <a:noFill/>
        </p:spPr>
        <p:txBody>
          <a:bodyPr wrap="square">
            <a:spAutoFit/>
          </a:bodyPr>
          <a:lstStyle/>
          <a:p>
            <a:pPr algn="l">
              <a:defRPr sz="1300" b="1" i="0">
                <a:solidFill>
                  <a:srgbClr val="0A192F"/>
                </a:solidFill>
                <a:latin typeface="Trebuchet MS"/>
              </a:defRPr>
            </a:pPr>
            <a:r>
              <a:t>SHAP Interpretability</a:t>
            </a:r>
          </a:p>
        </p:txBody>
      </p:sp>
      <p:sp>
        <p:nvSpPr>
          <p:cNvPr id="15" name="TextBox 14"/>
          <p:cNvSpPr txBox="1"/>
          <p:nvPr/>
        </p:nvSpPr>
        <p:spPr>
          <a:xfrm>
            <a:off x="594360" y="3383280"/>
            <a:ext cx="6675120" cy="320040"/>
          </a:xfrm>
          <a:prstGeom prst="rect">
            <a:avLst/>
          </a:prstGeom>
          <a:noFill/>
        </p:spPr>
        <p:txBody>
          <a:bodyPr wrap="square">
            <a:spAutoFit/>
          </a:bodyPr>
          <a:lstStyle/>
          <a:p>
            <a:pPr algn="l">
              <a:defRPr sz="1100" b="0" i="0">
                <a:solidFill>
                  <a:srgbClr val="4A5568"/>
                </a:solidFill>
                <a:latin typeface="Trebuchet MS"/>
              </a:defRPr>
            </a:pPr>
            <a:r>
              <a:t>Transparent, trustworthy predictions revenue teams can act on</a:t>
            </a:r>
          </a:p>
        </p:txBody>
      </p:sp>
      <p:sp>
        <p:nvSpPr>
          <p:cNvPr id="16" name="Rectangle 15"/>
          <p:cNvSpPr/>
          <p:nvPr/>
        </p:nvSpPr>
        <p:spPr>
          <a:xfrm>
            <a:off x="365760" y="3886200"/>
            <a:ext cx="7132320" cy="804672"/>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5760" y="3886200"/>
            <a:ext cx="91440" cy="804672"/>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3941063"/>
            <a:ext cx="3200400" cy="320040"/>
          </a:xfrm>
          <a:prstGeom prst="rect">
            <a:avLst/>
          </a:prstGeom>
          <a:noFill/>
        </p:spPr>
        <p:txBody>
          <a:bodyPr wrap="square">
            <a:spAutoFit/>
          </a:bodyPr>
          <a:lstStyle/>
          <a:p>
            <a:pPr algn="l">
              <a:defRPr sz="1300" b="1" i="0">
                <a:solidFill>
                  <a:srgbClr val="0A192F"/>
                </a:solidFill>
                <a:latin typeface="Trebuchet MS"/>
              </a:defRPr>
            </a:pPr>
            <a:r>
              <a:t>Operational Roadmap</a:t>
            </a:r>
          </a:p>
        </p:txBody>
      </p:sp>
      <p:sp>
        <p:nvSpPr>
          <p:cNvPr id="19" name="TextBox 18"/>
          <p:cNvSpPr txBox="1"/>
          <p:nvPr/>
        </p:nvSpPr>
        <p:spPr>
          <a:xfrm>
            <a:off x="594360" y="4297680"/>
            <a:ext cx="6675120" cy="320040"/>
          </a:xfrm>
          <a:prstGeom prst="rect">
            <a:avLst/>
          </a:prstGeom>
          <a:noFill/>
        </p:spPr>
        <p:txBody>
          <a:bodyPr wrap="square">
            <a:spAutoFit/>
          </a:bodyPr>
          <a:lstStyle/>
          <a:p>
            <a:pPr algn="l">
              <a:defRPr sz="1100" b="0" i="0">
                <a:solidFill>
                  <a:srgbClr val="4A5568"/>
                </a:solidFill>
                <a:latin typeface="Trebuchet MS"/>
              </a:defRPr>
            </a:pPr>
            <a:r>
              <a:t>6 concrete integration steps from scoring to pricing to retraining</a:t>
            </a:r>
          </a:p>
        </p:txBody>
      </p:sp>
      <p:sp>
        <p:nvSpPr>
          <p:cNvPr id="20" name="Rectangle 19"/>
          <p:cNvSpPr/>
          <p:nvPr/>
        </p:nvSpPr>
        <p:spPr>
          <a:xfrm>
            <a:off x="7955279" y="1143000"/>
            <a:ext cx="3840480" cy="4572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55279" y="1234440"/>
            <a:ext cx="3840480" cy="457200"/>
          </a:xfrm>
          <a:prstGeom prst="rect">
            <a:avLst/>
          </a:prstGeom>
          <a:noFill/>
        </p:spPr>
        <p:txBody>
          <a:bodyPr wrap="square">
            <a:spAutoFit/>
          </a:bodyPr>
          <a:lstStyle/>
          <a:p>
            <a:pPr algn="ctr">
              <a:defRPr sz="1200" b="1" i="0">
                <a:solidFill>
                  <a:srgbClr val="D4AF37"/>
                </a:solidFill>
                <a:latin typeface="Trebuchet MS"/>
              </a:defRPr>
            </a:pPr>
            <a:r>
              <a:t>Projected Annual Gain</a:t>
            </a:r>
          </a:p>
        </p:txBody>
      </p:sp>
      <p:sp>
        <p:nvSpPr>
          <p:cNvPr id="22" name="Rectangle 21"/>
          <p:cNvSpPr/>
          <p:nvPr/>
        </p:nvSpPr>
        <p:spPr>
          <a:xfrm>
            <a:off x="8138160" y="1737360"/>
            <a:ext cx="34747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55279" y="1874519"/>
            <a:ext cx="3840480" cy="822960"/>
          </a:xfrm>
          <a:prstGeom prst="rect">
            <a:avLst/>
          </a:prstGeom>
          <a:noFill/>
        </p:spPr>
        <p:txBody>
          <a:bodyPr wrap="square">
            <a:spAutoFit/>
          </a:bodyPr>
          <a:lstStyle/>
          <a:p>
            <a:pPr algn="ctr">
              <a:defRPr sz="3600" b="1" i="0">
                <a:solidFill>
                  <a:srgbClr val="FFFFFF"/>
                </a:solidFill>
                <a:latin typeface="Trebuchet MS"/>
              </a:defRPr>
            </a:pPr>
            <a:r>
              <a:t>€164,000+</a:t>
            </a:r>
          </a:p>
        </p:txBody>
      </p:sp>
      <p:sp>
        <p:nvSpPr>
          <p:cNvPr id="24" name="TextBox 23"/>
          <p:cNvSpPr txBox="1"/>
          <p:nvPr/>
        </p:nvSpPr>
        <p:spPr>
          <a:xfrm>
            <a:off x="7955279" y="2651760"/>
            <a:ext cx="3840480" cy="548640"/>
          </a:xfrm>
          <a:prstGeom prst="rect">
            <a:avLst/>
          </a:prstGeom>
          <a:noFill/>
        </p:spPr>
        <p:txBody>
          <a:bodyPr wrap="square">
            <a:spAutoFit/>
          </a:bodyPr>
          <a:lstStyle/>
          <a:p>
            <a:pPr algn="ctr">
              <a:defRPr sz="1300" b="0" i="0">
                <a:solidFill>
                  <a:srgbClr val="ADD8E6"/>
                </a:solidFill>
                <a:latin typeface="Trebuchet MS"/>
              </a:defRPr>
            </a:pPr>
            <a:r>
              <a:t>per 300-room hotel</a:t>
            </a:r>
            <a:br/>
            <a:r>
              <a:t>at €150 ADR</a:t>
            </a:r>
          </a:p>
        </p:txBody>
      </p:sp>
      <p:sp>
        <p:nvSpPr>
          <p:cNvPr id="25" name="Rectangle 24"/>
          <p:cNvSpPr/>
          <p:nvPr/>
        </p:nvSpPr>
        <p:spPr>
          <a:xfrm>
            <a:off x="8138160" y="3291840"/>
            <a:ext cx="3474720" cy="36576"/>
          </a:xfrm>
          <a:prstGeom prst="rect">
            <a:avLst/>
          </a:prstGeom>
          <a:solidFill>
            <a:srgbClr val="28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955279" y="3429000"/>
            <a:ext cx="3840480" cy="914400"/>
          </a:xfrm>
          <a:prstGeom prst="rect">
            <a:avLst/>
          </a:prstGeom>
          <a:noFill/>
        </p:spPr>
        <p:txBody>
          <a:bodyPr wrap="square">
            <a:spAutoFit/>
          </a:bodyPr>
          <a:lstStyle/>
          <a:p>
            <a:pPr algn="ctr">
              <a:defRPr sz="1100" b="0" i="0">
                <a:solidFill>
                  <a:srgbClr val="4A5568"/>
                </a:solidFill>
                <a:latin typeface="Trebuchet MS"/>
              </a:defRPr>
            </a:pPr>
            <a:r>
              <a:t>Conservative estimate.</a:t>
            </a:r>
            <a:br/>
            <a:r>
              <a:t>Larger properties scale</a:t>
            </a:r>
            <a:br/>
            <a:r>
              <a:t>proportionally higher.</a:t>
            </a:r>
          </a:p>
        </p:txBody>
      </p:sp>
      <p:sp>
        <p:nvSpPr>
          <p:cNvPr id="27" name="TextBox 26"/>
          <p:cNvSpPr txBox="1"/>
          <p:nvPr/>
        </p:nvSpPr>
        <p:spPr>
          <a:xfrm>
            <a:off x="365760" y="4892040"/>
            <a:ext cx="7132320" cy="365760"/>
          </a:xfrm>
          <a:prstGeom prst="rect">
            <a:avLst/>
          </a:prstGeom>
          <a:noFill/>
        </p:spPr>
        <p:txBody>
          <a:bodyPr wrap="square">
            <a:spAutoFit/>
          </a:bodyPr>
          <a:lstStyle/>
          <a:p>
            <a:pPr algn="l">
              <a:defRPr sz="1300" b="1" i="0">
                <a:solidFill>
                  <a:srgbClr val="0A192F"/>
                </a:solidFill>
                <a:latin typeface="Trebuchet MS"/>
              </a:defRPr>
            </a:pPr>
            <a:r>
              <a:t>Immediate Next Steps</a:t>
            </a:r>
          </a:p>
        </p:txBody>
      </p:sp>
      <p:sp>
        <p:nvSpPr>
          <p:cNvPr id="28" name="Rectangle 27"/>
          <p:cNvSpPr/>
          <p:nvPr/>
        </p:nvSpPr>
        <p:spPr>
          <a:xfrm>
            <a:off x="365760" y="5321808"/>
            <a:ext cx="7132320" cy="411480"/>
          </a:xfrm>
          <a:prstGeom prst="rect">
            <a:avLst/>
          </a:prstGeom>
          <a:solidFill>
            <a:srgbClr val="008080"/>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11480" y="5340096"/>
            <a:ext cx="6949440" cy="347472"/>
          </a:xfrm>
          <a:prstGeom prst="rect">
            <a:avLst/>
          </a:prstGeom>
          <a:noFill/>
        </p:spPr>
        <p:txBody>
          <a:bodyPr wrap="square">
            <a:spAutoFit/>
          </a:bodyPr>
          <a:lstStyle/>
          <a:p>
            <a:pPr algn="l">
              <a:defRPr sz="1100" b="1" i="0">
                <a:solidFill>
                  <a:srgbClr val="FFFFFF"/>
                </a:solidFill>
                <a:latin typeface="Trebuchet MS"/>
              </a:defRPr>
            </a:pPr>
            <a:r>
              <a:t>  1.  Integrate classifier API with PMS team (Q1)</a:t>
            </a:r>
          </a:p>
        </p:txBody>
      </p:sp>
      <p:sp>
        <p:nvSpPr>
          <p:cNvPr id="30" name="Rectangle 29"/>
          <p:cNvSpPr/>
          <p:nvPr/>
        </p:nvSpPr>
        <p:spPr>
          <a:xfrm>
            <a:off x="365760" y="5797296"/>
            <a:ext cx="7132320" cy="411480"/>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5815583"/>
            <a:ext cx="6949440" cy="347472"/>
          </a:xfrm>
          <a:prstGeom prst="rect">
            <a:avLst/>
          </a:prstGeom>
          <a:noFill/>
        </p:spPr>
        <p:txBody>
          <a:bodyPr wrap="square">
            <a:spAutoFit/>
          </a:bodyPr>
          <a:lstStyle/>
          <a:p>
            <a:pPr algn="l">
              <a:defRPr sz="1100" b="0" i="0">
                <a:solidFill>
                  <a:srgbClr val="0A192F"/>
                </a:solidFill>
                <a:latin typeface="Trebuchet MS"/>
              </a:defRPr>
            </a:pPr>
            <a:r>
              <a:t>  2.  Pilot retention email campaign for Online TA segment (Q1)</a:t>
            </a:r>
          </a:p>
        </p:txBody>
      </p:sp>
      <p:sp>
        <p:nvSpPr>
          <p:cNvPr id="32" name="Rectangle 31"/>
          <p:cNvSpPr/>
          <p:nvPr/>
        </p:nvSpPr>
        <p:spPr>
          <a:xfrm>
            <a:off x="365760" y="6272784"/>
            <a:ext cx="7132320" cy="411480"/>
          </a:xfrm>
          <a:prstGeom prst="rect">
            <a:avLst/>
          </a:prstGeom>
          <a:solidFill>
            <a:srgbClr val="F0F4F8"/>
          </a:solidFill>
          <a:ln>
            <a:solidFill>
              <a:srgbClr val="D0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6291072"/>
            <a:ext cx="6949440" cy="347472"/>
          </a:xfrm>
          <a:prstGeom prst="rect">
            <a:avLst/>
          </a:prstGeom>
          <a:noFill/>
        </p:spPr>
        <p:txBody>
          <a:bodyPr wrap="square">
            <a:spAutoFit/>
          </a:bodyPr>
          <a:lstStyle/>
          <a:p>
            <a:pPr algn="l">
              <a:defRPr sz="1100" b="0" i="0">
                <a:solidFill>
                  <a:srgbClr val="0A192F"/>
                </a:solidFill>
                <a:latin typeface="Trebuchet MS"/>
              </a:defRPr>
            </a:pPr>
            <a:r>
              <a:t>  3.  Validate lead time model against live booking data (Q2)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151</TotalTime>
  <Words>989</Words>
  <Application>Microsoft Office PowerPoint</Application>
  <PresentationFormat>Custom</PresentationFormat>
  <Paragraphs>170</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Orestis Pappas</cp:lastModifiedBy>
  <cp:revision>8</cp:revision>
  <dcterms:created xsi:type="dcterms:W3CDTF">2013-01-27T09:14:16Z</dcterms:created>
  <dcterms:modified xsi:type="dcterms:W3CDTF">2026-04-01T15:14:28Z</dcterms:modified>
  <cp:category/>
</cp:coreProperties>
</file>